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73" r:id="rId3"/>
    <p:sldId id="302" r:id="rId4"/>
    <p:sldId id="260" r:id="rId5"/>
    <p:sldId id="303" r:id="rId6"/>
    <p:sldId id="305" r:id="rId7"/>
    <p:sldId id="308" r:id="rId8"/>
    <p:sldId id="304" r:id="rId9"/>
    <p:sldId id="307" r:id="rId10"/>
    <p:sldId id="306" r:id="rId11"/>
    <p:sldId id="310" r:id="rId12"/>
    <p:sldId id="311" r:id="rId13"/>
    <p:sldId id="312" r:id="rId14"/>
    <p:sldId id="313" r:id="rId15"/>
    <p:sldId id="315" r:id="rId16"/>
    <p:sldId id="314" r:id="rId17"/>
    <p:sldId id="316" r:id="rId18"/>
    <p:sldId id="317" r:id="rId19"/>
    <p:sldId id="318" r:id="rId20"/>
    <p:sldId id="319" r:id="rId21"/>
    <p:sldId id="320" r:id="rId22"/>
    <p:sldId id="321" r:id="rId23"/>
    <p:sldId id="325" r:id="rId24"/>
    <p:sldId id="322" r:id="rId25"/>
    <p:sldId id="323" r:id="rId26"/>
    <p:sldId id="324" r:id="rId27"/>
    <p:sldId id="326" r:id="rId28"/>
    <p:sldId id="327" r:id="rId29"/>
    <p:sldId id="328" r:id="rId30"/>
    <p:sldId id="329" r:id="rId31"/>
    <p:sldId id="330" r:id="rId32"/>
    <p:sldId id="331" r:id="rId33"/>
    <p:sldId id="272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5722"/>
    <a:srgbClr val="212121"/>
    <a:srgbClr val="FFFFFF"/>
    <a:srgbClr val="009688"/>
    <a:srgbClr val="FAFAFA"/>
    <a:srgbClr val="FAF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9CB68-1941-4906-AC12-2D09C79E6FC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B2A7E-D471-4CC7-B736-F0E750F51E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81BFE-472C-AF23-2029-6DA32433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28A33E-F5DB-1036-E8B3-FBA04DC26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669E3-12AA-7AF5-48FA-4CAA4BD5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5F7C-F264-FAC4-9A35-C56F51A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662AA-7A3C-E3B2-BAEE-996F22F5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9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BD7BB-911F-8F0F-E065-FE7BF9E6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F1CBB-4913-5D20-F798-54DE4F08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6D1A2-531B-B859-4600-7D3BA314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25EC8-DDBA-7DD5-F2B7-94094B22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4AABF-27AB-171E-7736-558F528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9C6FB-E474-602B-0BAD-E2259AEE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BCF1C-1C77-DC9F-BE47-47F78513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2F0D1-C861-6850-4681-94E0991C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04389-A881-D74E-67D0-507332F3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31549-9AD6-A055-8DC7-49259C03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0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9677-7067-AE43-E6EA-7121223C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5E21F-B711-3725-D9E6-7B624C82E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B3174-BBA9-D1C1-68BE-AA39626C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88F8A-BCCA-EA9B-3F2D-3CE189C6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647FE-A50D-3A6B-A5B8-1746E58F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4B680-A5CA-2369-C868-29E4DA46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26D9-81FB-28A2-A189-19D866CB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409CF-46E2-8692-1DDD-BD6F0941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C93492-A078-58FE-F431-8A6B1645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425CF4-E490-B087-799B-A284A5E29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F05079-0B1D-2A08-4B5A-7A47563FA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4CB6D9-4B94-78AD-DA57-2E708DE9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AFAB1D-B6D7-722E-9B89-2C9AAF48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0175EC-D192-9F74-E1D9-9794ECC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3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150F0-F0B5-1431-EC65-E7735A97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056517-8D1C-E941-0F28-1C8683D6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5FB620-8763-F137-95F8-0717A78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56677-C408-1CB4-480E-2007C105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7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712225-B2B1-AC3A-7302-BC54A934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C7CB12-69E1-E183-B317-9AFF1D36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D257A-3B96-13BA-67CA-D0CB620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4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F4DC-3405-3AAD-71BE-C4A1B45E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DE67E-4BA6-A7C5-CB7D-CAC6AF129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96027B-319E-E8FA-5654-775F932A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F7B85-1CD8-B7BA-D246-D0B249A3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CE49D-CA29-23D9-0641-F90D5891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28064-4997-6872-3172-D1D00B04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7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BE001-34F2-E5D4-7617-77DBB8BC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399026-4B53-0032-A905-E344171D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A3BD4-F81A-FCAB-5C0F-56AA1BC2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19C95-B508-4B2A-D648-A2371BF2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060E1-303A-06C8-180B-D8DFB19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2A05B-7B6E-4F4C-854A-0A4AE47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5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9EBF8-80C9-8E0A-3B5C-C30D3348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C09593-F2B7-0A77-1276-CBDEB926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A3DC8-A418-7F10-9B10-6B28720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064125-E8C9-D375-C409-EC4ABC97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B8F2B-6883-D688-2939-86C45E1C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1DA494-40F1-4263-511A-0174C1521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612D5-EAED-A3F7-D9B2-7E7D35396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90166-D5B1-7CA7-0990-0BFAB3F1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AC9C1-87DF-962D-74EA-0F47162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F12968-7CAA-DF11-CF28-045E73D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10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D2831-1054-433A-439B-261C3F4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0958DC-3F4B-88EC-B11C-25ED353B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05A6B-E3F9-EDFE-F146-5795CC45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215A9-734E-4AD3-8910-5EED93001A6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FB9AA-ACE8-6B52-2FB0-DFC715A82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F4FB8-5A01-566E-6DB0-67E074FB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1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21212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3A9C1-EF8C-0E35-7892-BECDD7D7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altLang="ko-KR" dirty="0"/>
              <a:t>Kotlin </a:t>
            </a:r>
            <a:r>
              <a:rPr lang="ko-KR" altLang="en-US" dirty="0"/>
              <a:t>기초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3EEAF6-6ABF-556C-87EA-7710277EA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2800"/>
            <a:ext cx="9684774" cy="223520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1800" dirty="0"/>
              <a:t>유지민</a:t>
            </a:r>
          </a:p>
        </p:txBody>
      </p:sp>
    </p:spTree>
    <p:extLst>
      <p:ext uri="{BB962C8B-B14F-4D97-AF65-F5344CB8AC3E}">
        <p14:creationId xmlns:p14="http://schemas.microsoft.com/office/powerpoint/2010/main" val="37858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DAA1-B01A-DC99-5C8E-4EC9D3BD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E704D-39F8-2CA4-4D4A-4DDED691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399A3-6B37-93DA-2161-4EC1433CD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547" y="1749630"/>
            <a:ext cx="3440906" cy="3774816"/>
          </a:xfrm>
        </p:spPr>
        <p:txBody>
          <a:bodyPr wrap="square" anchor="ctr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함수와 변수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/>
              <a:t>클래스와 프로퍼티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/>
              <a:t>이넘과</a:t>
            </a:r>
            <a:r>
              <a:rPr lang="ko-KR" altLang="ko-KR" dirty="0"/>
              <a:t> </a:t>
            </a:r>
            <a:r>
              <a:rPr lang="en-US" altLang="ko-KR" dirty="0"/>
              <a:t>when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while</a:t>
            </a:r>
            <a:r>
              <a:rPr lang="ko-KR" altLang="ko-KR" dirty="0"/>
              <a:t>과 </a:t>
            </a:r>
            <a:r>
              <a:rPr lang="en-US" altLang="ko-KR" dirty="0"/>
              <a:t>for </a:t>
            </a:r>
            <a:r>
              <a:rPr lang="ko-KR" altLang="ko-KR" dirty="0"/>
              <a:t>루프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예외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329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D137-8781-60D0-EA6C-A1C3C6C1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6A4B2-8F40-30EC-31A4-5B8D1E4B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3D6F39-327E-8EE7-2C43-C9A278289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‘</a:t>
            </a:r>
            <a:r>
              <a:rPr lang="ko-KR" altLang="en-US" sz="3200" b="1" dirty="0" err="1">
                <a:latin typeface="+mn-ea"/>
              </a:rPr>
              <a:t>코틀린스러운</a:t>
            </a:r>
            <a:r>
              <a:rPr lang="ko-KR" altLang="en-US" sz="3200" b="1" dirty="0">
                <a:latin typeface="+mn-ea"/>
              </a:rPr>
              <a:t>’ 코드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간결성을 강조</a:t>
            </a:r>
            <a:endParaRPr lang="en-US" altLang="ko-KR" sz="2400" b="1" dirty="0">
              <a:solidFill>
                <a:srgbClr val="FF5722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짧은 </a:t>
            </a:r>
            <a:r>
              <a:rPr lang="en-US" altLang="ko-KR" sz="2400" dirty="0">
                <a:solidFill>
                  <a:srgbClr val="000000"/>
                </a:solidFill>
              </a:rPr>
              <a:t>main </a:t>
            </a:r>
            <a:r>
              <a:rPr lang="ko-KR" altLang="en-US" sz="2400" dirty="0">
                <a:solidFill>
                  <a:srgbClr val="000000"/>
                </a:solidFill>
              </a:rPr>
              <a:t>함수</a:t>
            </a:r>
            <a:endParaRPr lang="en-US" altLang="ko-KR" sz="2400" dirty="0">
              <a:solidFill>
                <a:srgbClr val="000000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클래스로 묶지 않음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5F67304-8B94-BE17-1E60-5527F8FD7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77D39FC-5605-44EA-B21D-79FCF170D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3" y="98583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12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A95-F698-7E59-5317-3BB9BA4A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B1897-6D67-761B-405D-EAC7A1B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0C0E5-24F4-E137-690F-A9821BCD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main</a:t>
            </a:r>
            <a:r>
              <a:rPr lang="ko-KR" altLang="en-US" sz="3200" b="1" dirty="0">
                <a:latin typeface="+mn-ea"/>
              </a:rPr>
              <a:t> 함수 작성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b="1" dirty="0" err="1">
                <a:solidFill>
                  <a:srgbClr val="FF5722"/>
                </a:solidFill>
              </a:rPr>
              <a:t>코틀린은</a:t>
            </a:r>
            <a:r>
              <a:rPr lang="ko-KR" altLang="en-US" sz="2400" b="1" dirty="0">
                <a:solidFill>
                  <a:srgbClr val="FF5722"/>
                </a:solidFill>
              </a:rPr>
              <a:t> 간결성을 강조한다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기존 자바의 불필요한 긴 코드 생략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6374923-F320-A8B6-1168-14CBAC02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8C6E8-B931-842D-1443-06FBD728C9B4}"/>
              </a:ext>
            </a:extLst>
          </p:cNvPr>
          <p:cNvSpPr txBox="1"/>
          <p:nvPr/>
        </p:nvSpPr>
        <p:spPr>
          <a:xfrm>
            <a:off x="6029323" y="24085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800" i="1" dirty="0" err="1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진입점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인자 생략 가능</a:t>
            </a:r>
            <a:b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public static void main X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18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/*String[] </a:t>
            </a:r>
            <a:r>
              <a:rPr lang="en-US" altLang="ko-KR" sz="1800" i="1" dirty="0" err="1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args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없어도 됨*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print, </a:t>
            </a:r>
            <a:r>
              <a:rPr lang="en-US" altLang="ko-KR" sz="1800" i="1" dirty="0" err="1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은 표준 라이브러리이기 때문에</a:t>
            </a:r>
            <a:b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en-US" altLang="ko-KR" sz="1800" i="1" dirty="0" err="1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System.out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같은 클래스 호출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X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"Hello World!"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세미콜론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X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CFF9E-FBC4-75D8-793D-E37A58CB6651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Main.kt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12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5BA99-CC83-96D5-F88C-9CCD20BF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98290-B23C-524C-C59B-D2C94525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A2346-0E3E-5D08-DFCF-79F951F08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197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파라미터와 </a:t>
            </a:r>
            <a:r>
              <a:rPr lang="ko-KR" altLang="en-US" sz="3200" b="1" dirty="0" err="1">
                <a:latin typeface="+mn-ea"/>
              </a:rPr>
              <a:t>반환값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/>
              <a:t>이름 뒤 콜론으로 지정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if</a:t>
            </a:r>
            <a:r>
              <a:rPr lang="ko-KR" altLang="en-US" sz="2400" dirty="0">
                <a:solidFill>
                  <a:srgbClr val="000000"/>
                </a:solidFill>
              </a:rPr>
              <a:t>는 문이 아닌 식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19F7E3E3-E5FB-A750-FC2C-71EFC1A6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2D7CB-3A85-FEA1-761D-28381C334DC5}"/>
              </a:ext>
            </a:extLst>
          </p:cNvPr>
          <p:cNvSpPr txBox="1"/>
          <p:nvPr/>
        </p:nvSpPr>
        <p:spPr>
          <a:xfrm>
            <a:off x="6110285" y="1536174"/>
            <a:ext cx="59340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i="1" dirty="0">
                <a:solidFill>
                  <a:srgbClr val="8C8C8C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2000" i="1" dirty="0">
                <a:solidFill>
                  <a:srgbClr val="8C8C8C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타입은 이름 뒤 콜론으로 지정</a:t>
            </a:r>
            <a:b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max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</a:p>
          <a:p>
            <a:pPr>
              <a:buNone/>
            </a:pP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자바의 </a:t>
            </a:r>
            <a:r>
              <a:rPr lang="ko-KR" altLang="en-US" sz="2000" i="1" dirty="0" err="1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삼항</a:t>
            </a:r>
            <a:r>
              <a:rPr lang="ko-KR" altLang="en-US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연산자 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((a &gt; b) ? a : b;)</a:t>
            </a:r>
          </a:p>
          <a:p>
            <a:pPr>
              <a:buNone/>
            </a:pP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// if</a:t>
            </a:r>
            <a:r>
              <a:rPr lang="ko-KR" altLang="en-US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는 문이 아닌 식</a:t>
            </a:r>
            <a:b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if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b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max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2</a:t>
            </a:r>
            <a:b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90B6C-4714-BE95-4819-F89382D01015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Main.kt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33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B71A2-EA97-0F0A-F2EF-5C88D918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02078-14A6-A2B6-7C01-2E44CE93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154B5-FEB0-AE21-4B44-876A66FF4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19799" cy="4351338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문과 식의 구분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문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: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동작을 설명하는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문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장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식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: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결과를 반환하는 수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식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5722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BBF31C58-8386-41B8-8181-B622D5B02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077D3-AB80-55D8-C8D3-8C24B0CFA4C0}"/>
              </a:ext>
            </a:extLst>
          </p:cNvPr>
          <p:cNvSpPr txBox="1"/>
          <p:nvPr/>
        </p:nvSpPr>
        <p:spPr>
          <a:xfrm>
            <a:off x="6991347" y="2459504"/>
            <a:ext cx="4171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(condition)</a:t>
            </a:r>
            <a:b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(loop)</a:t>
            </a:r>
            <a:b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if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(a &gt; b) a </a:t>
            </a: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b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try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{..}catch{..}</a:t>
            </a:r>
          </a:p>
        </p:txBody>
      </p:sp>
    </p:spTree>
    <p:extLst>
      <p:ext uri="{BB962C8B-B14F-4D97-AF65-F5344CB8AC3E}">
        <p14:creationId xmlns:p14="http://schemas.microsoft.com/office/powerpoint/2010/main" val="167479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7A1B-C272-F808-ADA8-C263B64C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E4FE4-4F96-24B8-7679-E3F0F708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F187A6-FE68-38A4-38C9-0BC0D865E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19799" cy="4351338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문과 식의 구분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문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: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동작을 설명하는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문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장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식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: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결과를 반환하는 수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식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5722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C9EDED1-4B28-D2F8-7D24-847871C4A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C272A-D75B-ADF4-8100-B34352E117B1}"/>
              </a:ext>
            </a:extLst>
          </p:cNvPr>
          <p:cNvSpPr txBox="1"/>
          <p:nvPr/>
        </p:nvSpPr>
        <p:spPr>
          <a:xfrm>
            <a:off x="6991346" y="2459504"/>
            <a:ext cx="52006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코틀린에서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대입은 문으로 취급</a:t>
            </a:r>
            <a:b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=c=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... 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24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=c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c=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</a:t>
            </a:r>
            <a:endParaRPr lang="ko-KR" altLang="ko-KR" sz="24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9285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0A480-6B25-D846-34DC-D9FBBF3C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852DF-CD83-C292-32A3-3B8BFD4F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C7B83D-E2ED-50BF-4BC4-8CBCF6CC1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197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간결하게 정의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/>
              <a:t>등호를 통해 </a:t>
            </a:r>
            <a:r>
              <a:rPr lang="en-US" altLang="ko-KR" sz="2400" dirty="0"/>
              <a:t>return </a:t>
            </a:r>
            <a:r>
              <a:rPr lang="ko-KR" altLang="en-US" sz="2400" dirty="0"/>
              <a:t>제거 가능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타입을 명시하지 않아도 추론 가능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5EA1AF21-9F87-5C7D-0710-40195E73F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27332-6772-3B75-CBDA-03E1094F7E33}"/>
              </a:ext>
            </a:extLst>
          </p:cNvPr>
          <p:cNvSpPr txBox="1"/>
          <p:nvPr/>
        </p:nvSpPr>
        <p:spPr>
          <a:xfrm>
            <a:off x="6096000" y="2613392"/>
            <a:ext cx="5905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max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if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b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max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 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endParaRPr lang="en-US" altLang="ko-KR" sz="20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020D0-66D5-7AD9-0393-CED075835D23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Main.kt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167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F7E9-599E-AE0C-8DAF-D03D6EF9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A0941-678F-7715-D012-33A30A8A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B8CD92D6-EB7D-2633-FBEC-B0E2A788D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4A08A-2FE6-D3E6-3928-20798D22489B}"/>
              </a:ext>
            </a:extLst>
          </p:cNvPr>
          <p:cNvSpPr txBox="1"/>
          <p:nvPr/>
        </p:nvSpPr>
        <p:spPr>
          <a:xfrm>
            <a:off x="6991347" y="2459504"/>
            <a:ext cx="4171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a: Int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b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 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2400" dirty="0">
                <a:solidFill>
                  <a:srgbClr val="00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 Int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b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a = 20   &lt;- </a:t>
            </a:r>
            <a:r>
              <a:rPr lang="ko-KR" altLang="en-US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컴파일 에러</a:t>
            </a:r>
            <a:br>
              <a:rPr lang="ko-KR" altLang="en-US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</a:t>
            </a:r>
            <a:endParaRPr lang="en-US" altLang="ko-KR" sz="24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36B7789-2D9A-C64C-0236-41E72FA549F9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6076949" cy="492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변수 선언</a:t>
            </a:r>
            <a:endParaRPr lang="en-US" altLang="ko-KR" sz="3200" b="1" dirty="0">
              <a:latin typeface="+mn-ea"/>
            </a:endParaRPr>
          </a:p>
          <a:p>
            <a:pPr marL="228600" indent="-228600" algn="l" rtl="0" eaLnBrk="1" latinLnBrk="1" hangingPunct="1">
              <a:lnSpc>
                <a:spcPct val="150000"/>
              </a:lnSpc>
              <a:spcBef>
                <a:spcPts val="1000"/>
              </a:spcBef>
              <a:buClrTx/>
              <a:buSzPts val="2400"/>
              <a:buFont typeface="Arial" panose="020B0604020202020204" pitchFamily="34" charset="0"/>
              <a:buChar char="•"/>
            </a:pPr>
            <a:r>
              <a:rPr lang="en-US" altLang="ko-KR" sz="2400" kern="1200" dirty="0" err="1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val</a:t>
            </a:r>
            <a:r>
              <a:rPr lang="en-US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(value): </a:t>
            </a:r>
            <a:r>
              <a:rPr lang="ko-KR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불변 객체</a:t>
            </a:r>
            <a:r>
              <a:rPr lang="en-US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. </a:t>
            </a:r>
            <a:r>
              <a:rPr lang="ko-KR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초기화 후 값을 바꿀 수 없음</a:t>
            </a:r>
            <a:r>
              <a:rPr lang="en-US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.</a:t>
            </a:r>
          </a:p>
          <a:p>
            <a:pPr marL="228600" indent="-228600" algn="l" rtl="0" eaLnBrk="1" latinLnBrk="1" hangingPunct="1">
              <a:lnSpc>
                <a:spcPct val="150000"/>
              </a:lnSpc>
              <a:spcBef>
                <a:spcPts val="1000"/>
              </a:spcBef>
              <a:buClrTx/>
              <a:buSzPts val="2400"/>
              <a:buFont typeface="Arial" panose="020B0604020202020204" pitchFamily="34" charset="0"/>
              <a:buChar char="•"/>
            </a:pPr>
            <a:r>
              <a:rPr lang="en-US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var(variable): </a:t>
            </a:r>
            <a:r>
              <a:rPr lang="ko-KR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값을 바꿀 수 있음</a:t>
            </a:r>
            <a:r>
              <a:rPr lang="en-US" altLang="ko-KR" sz="2400" kern="1200" dirty="0">
                <a:solidFill>
                  <a:srgbClr val="000000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.</a:t>
            </a:r>
            <a:endParaRPr lang="en-US" altLang="ko-KR" sz="1600" dirty="0"/>
          </a:p>
          <a:p>
            <a:pPr marL="228600" indent="-228600" algn="l" rtl="0" eaLnBrk="1" latinLnBrk="1" hangingPunct="1">
              <a:lnSpc>
                <a:spcPct val="150000"/>
              </a:lnSpc>
              <a:spcBef>
                <a:spcPts val="1000"/>
              </a:spcBef>
              <a:buClrTx/>
              <a:buSzPts val="2400"/>
              <a:buFont typeface="Arial" panose="020B0604020202020204" pitchFamily="34" charset="0"/>
              <a:buChar char="•"/>
            </a:pPr>
            <a:r>
              <a:rPr lang="ko-KR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기본적으로 </a:t>
            </a:r>
            <a:r>
              <a:rPr lang="ko-KR" altLang="ko-KR" sz="2400" b="1" kern="1200" dirty="0" err="1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코틀린에선</a:t>
            </a:r>
            <a:r>
              <a:rPr lang="ko-KR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 모든 변수를 </a:t>
            </a:r>
            <a:r>
              <a:rPr lang="en-US" altLang="ko-KR" sz="2400" b="1" kern="1200" dirty="0" err="1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val</a:t>
            </a:r>
            <a:r>
              <a:rPr lang="en-US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 </a:t>
            </a:r>
            <a:r>
              <a:rPr lang="ko-KR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키워드로 선언</a:t>
            </a:r>
            <a:r>
              <a:rPr lang="en-US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. </a:t>
            </a:r>
            <a:r>
              <a:rPr lang="ko-KR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필요 시에만 </a:t>
            </a:r>
            <a:r>
              <a:rPr lang="en-US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var</a:t>
            </a:r>
            <a:r>
              <a:rPr lang="ko-KR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로 변경</a:t>
            </a:r>
            <a:r>
              <a:rPr lang="en-US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.</a:t>
            </a:r>
            <a:endParaRPr lang="ko-KR" altLang="ko-K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815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563E-3770-F09C-15F0-C25F361D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E4BE0-DFF8-0857-2730-248D2D1D3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EFCF3-F221-31A6-C81A-3FD878A44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769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타입 추론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타입을 명시하지 않아도 추론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부동소수점 상수는 </a:t>
            </a:r>
            <a:r>
              <a:rPr lang="en-US" altLang="ko-KR" sz="2400" b="1" dirty="0">
                <a:solidFill>
                  <a:srgbClr val="FF5722"/>
                </a:solidFill>
              </a:rPr>
              <a:t>Double</a:t>
            </a:r>
            <a:r>
              <a:rPr lang="ko-KR" altLang="en-US" sz="2400" b="1" dirty="0">
                <a:solidFill>
                  <a:srgbClr val="FF5722"/>
                </a:solidFill>
              </a:rPr>
              <a:t>로 추론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타입을 지정하고 초기화 시점을 미룰 수 있음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BE890EF-85C6-8718-E68B-6DFED87DA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92A76-1FF8-B74B-508D-03DAD6A8B30B}"/>
              </a:ext>
            </a:extLst>
          </p:cNvPr>
          <p:cNvSpPr txBox="1"/>
          <p:nvPr/>
        </p:nvSpPr>
        <p:spPr>
          <a:xfrm>
            <a:off x="7172324" y="2151728"/>
            <a:ext cx="46672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question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삶</a:t>
            </a:r>
            <a:r>
              <a:rPr lang="en-US" altLang="ko-KR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en-US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우주</a:t>
            </a:r>
            <a:r>
              <a:rPr lang="en-US" altLang="ko-KR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en-US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그리고 </a:t>
            </a:r>
            <a:r>
              <a:rPr lang="en-US" altLang="ko-KR" sz="2000" dirty="0">
                <a:solidFill>
                  <a:srgbClr val="067D1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…</a:t>
            </a:r>
            <a:r>
              <a:rPr lang="en-US" altLang="ko-KR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en-US" altLang="ko-KR" sz="20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2000" dirty="0">
              <a:solidFill>
                <a:srgbClr val="067D17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en-US" altLang="ko-KR" sz="20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answer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42</a:t>
            </a:r>
            <a:b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yearsToCompute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7.5e6</a:t>
            </a:r>
            <a:b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answer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b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answer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0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42</a:t>
            </a:r>
            <a:endParaRPr lang="en-US" altLang="ko-KR" sz="20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CEEEE-C013-EED0-7C73-37CA8602ED8A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Main.kt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98DF-0197-80C0-0218-3D981CC0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8FD49-CE00-B0AE-291D-22BB3B86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73C5AC-B885-EE6E-975E-81322B86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769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문자열 템플릿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특수문자 </a:t>
            </a:r>
            <a:r>
              <a:rPr lang="en-US" altLang="ko-KR" sz="2400" b="1" dirty="0">
                <a:solidFill>
                  <a:srgbClr val="FF5722"/>
                </a:solidFill>
              </a:rPr>
              <a:t>“$”</a:t>
            </a:r>
            <a:r>
              <a:rPr lang="ko-KR" altLang="en-US" sz="2400" dirty="0">
                <a:solidFill>
                  <a:srgbClr val="000000"/>
                </a:solidFill>
              </a:rPr>
              <a:t>로 변수 </a:t>
            </a:r>
            <a:r>
              <a:rPr lang="ko-KR" altLang="en-US" sz="2400" dirty="0" err="1">
                <a:solidFill>
                  <a:srgbClr val="000000"/>
                </a:solidFill>
              </a:rPr>
              <a:t>포맷팅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백슬래시</a:t>
            </a:r>
            <a:r>
              <a:rPr lang="en-US" altLang="ko-KR" sz="2400" dirty="0">
                <a:solidFill>
                  <a:srgbClr val="000000"/>
                </a:solidFill>
              </a:rPr>
              <a:t>(\)</a:t>
            </a:r>
            <a:r>
              <a:rPr lang="ko-KR" altLang="en-US" sz="2400" dirty="0">
                <a:solidFill>
                  <a:srgbClr val="000000"/>
                </a:solidFill>
              </a:rPr>
              <a:t>로 이스케이프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문자열의 자세한 내용은</a:t>
            </a:r>
            <a:r>
              <a:rPr lang="en-US" altLang="ko-KR" sz="2400" dirty="0">
                <a:solidFill>
                  <a:srgbClr val="000000"/>
                </a:solidFill>
              </a:rPr>
              <a:t> 3.5</a:t>
            </a:r>
            <a:r>
              <a:rPr lang="ko-KR" altLang="en-US" sz="2400" dirty="0">
                <a:solidFill>
                  <a:srgbClr val="000000"/>
                </a:solidFill>
              </a:rPr>
              <a:t>절에 있음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7728A5A7-336E-C8B9-4594-2DB3EEBD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4BEFD-8806-A554-5627-01BDB6EBCBCD}"/>
              </a:ext>
            </a:extLst>
          </p:cNvPr>
          <p:cNvSpPr txBox="1"/>
          <p:nvPr/>
        </p:nvSpPr>
        <p:spPr>
          <a:xfrm>
            <a:off x="6915150" y="2459504"/>
            <a:ext cx="49720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Hello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("$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name님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반가와요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!")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님 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반가와요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Hello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\$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2FFAA-BC4A-79C5-7ECA-D3DA4688FE04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string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.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891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2E3E-C049-FF6A-22E2-CCF213AE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EBEEC-4D39-BA75-DA29-FFB0C26F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클래스와 프로퍼티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64EAD8-B3F2-1493-3461-CF078D115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863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Member </a:t>
            </a:r>
            <a:r>
              <a:rPr lang="ko-KR" altLang="en-US" sz="3200" b="1" dirty="0">
                <a:latin typeface="+mn-ea"/>
              </a:rPr>
              <a:t>클래스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다른 언어에 비해 적은 양의 코드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프로퍼티와 기본 생성자만 작성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6DE48DAA-F67A-D372-ADD6-A95F3394E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4C15F-7A0E-9E73-9689-D2C84D351C15}"/>
              </a:ext>
            </a:extLst>
          </p:cNvPr>
          <p:cNvSpPr txBox="1"/>
          <p:nvPr/>
        </p:nvSpPr>
        <p:spPr>
          <a:xfrm>
            <a:off x="6362700" y="1166843"/>
            <a:ext cx="55245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자바 코드</a:t>
            </a:r>
            <a:endParaRPr lang="ko-KR" altLang="ko-KR" sz="18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Member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endParaRPr lang="en-US" altLang="ko-KR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302A24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Member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en-US" altLang="ko-KR" dirty="0">
              <a:solidFill>
                <a:srgbClr val="302A24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en-US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getName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endParaRPr lang="en-US" altLang="ko-KR" dirty="0">
              <a:solidFill>
                <a:srgbClr val="302A24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8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코틀린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코드</a:t>
            </a:r>
            <a:b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Member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8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9A48F-84FF-D629-6830-170BCD53A4A7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ember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.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81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3949-3B54-AD4E-9241-784B1B15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AB30B-F9CB-8635-0F3D-BC5400E2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클래스와 프로퍼티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A702D-F5B8-4704-3930-A8EBE9B45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863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프로퍼티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필드와 접근자를 묶은 것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필드와 매개변수 생성 분리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필드의 </a:t>
            </a:r>
            <a:r>
              <a:rPr lang="en-US" altLang="ko-KR" sz="2400" dirty="0">
                <a:solidFill>
                  <a:srgbClr val="000000"/>
                </a:solidFill>
              </a:rPr>
              <a:t>getter</a:t>
            </a:r>
            <a:r>
              <a:rPr lang="ko-KR" altLang="en-US" sz="2400" dirty="0">
                <a:solidFill>
                  <a:srgbClr val="000000"/>
                </a:solidFill>
              </a:rPr>
              <a:t>와 </a:t>
            </a:r>
            <a:r>
              <a:rPr lang="en-US" altLang="ko-KR" sz="2400" dirty="0">
                <a:solidFill>
                  <a:srgbClr val="000000"/>
                </a:solidFill>
              </a:rPr>
              <a:t>setter</a:t>
            </a:r>
            <a:r>
              <a:rPr lang="ko-KR" altLang="en-US" sz="2400" dirty="0">
                <a:solidFill>
                  <a:srgbClr val="000000"/>
                </a:solidFill>
              </a:rPr>
              <a:t>를 커스텀 할 수 있음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DC85E39-2D61-5C48-6516-1C6DDA835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8FC7D-7C37-EFB1-14FA-3BBE2BF7BDE4}"/>
              </a:ext>
            </a:extLst>
          </p:cNvPr>
          <p:cNvSpPr txBox="1"/>
          <p:nvPr/>
        </p:nvSpPr>
        <p:spPr>
          <a:xfrm>
            <a:off x="6457950" y="797511"/>
            <a:ext cx="57340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CustomMember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커스텀 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접근자</a:t>
            </a:r>
            <a:b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b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&gt;= </a:t>
            </a:r>
            <a: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   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Status.Leader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b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   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Status.Member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set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field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B7EA9-D24D-5D73-FA3C-6726ADC47F4E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customMember.kt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49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178D-63E7-D92A-B8C7-0D782950F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3EDC0-A581-8407-4ADC-710BAA49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클래스와 프로퍼티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6F642-1460-4671-179B-A76ABEB21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863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디렉토리와 패키지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자바와 같은 </a:t>
            </a:r>
            <a:r>
              <a:rPr lang="en-US" altLang="ko-KR" sz="2400" dirty="0">
                <a:solidFill>
                  <a:srgbClr val="000000"/>
                </a:solidFill>
              </a:rPr>
              <a:t>package</a:t>
            </a:r>
            <a:r>
              <a:rPr lang="ko-KR" altLang="en-US" sz="2400" dirty="0">
                <a:solidFill>
                  <a:srgbClr val="000000"/>
                </a:solidFill>
              </a:rPr>
              <a:t>문</a:t>
            </a:r>
            <a:endParaRPr lang="en-US" altLang="ko-KR" sz="2400" dirty="0">
              <a:solidFill>
                <a:srgbClr val="000000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자바와 같은 </a:t>
            </a:r>
            <a:r>
              <a:rPr lang="en-US" altLang="ko-KR" sz="2400" dirty="0">
                <a:solidFill>
                  <a:srgbClr val="000000"/>
                </a:solidFill>
              </a:rPr>
              <a:t>import</a:t>
            </a:r>
            <a:r>
              <a:rPr lang="ko-KR" altLang="en-US" sz="2400" dirty="0">
                <a:solidFill>
                  <a:srgbClr val="000000"/>
                </a:solidFill>
              </a:rPr>
              <a:t>문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8131848D-CE35-E744-F232-2E44C32B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6F4E2-CAD3-2A6B-5C49-C090A724E0B8}"/>
              </a:ext>
            </a:extLst>
          </p:cNvPr>
          <p:cNvSpPr txBox="1"/>
          <p:nvPr/>
        </p:nvSpPr>
        <p:spPr>
          <a:xfrm>
            <a:off x="6457950" y="2828836"/>
            <a:ext cx="5734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package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chapter2.member;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import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kos.chapter2.member.Status;</a:t>
            </a:r>
          </a:p>
        </p:txBody>
      </p:sp>
    </p:spTree>
    <p:extLst>
      <p:ext uri="{BB962C8B-B14F-4D97-AF65-F5344CB8AC3E}">
        <p14:creationId xmlns:p14="http://schemas.microsoft.com/office/powerpoint/2010/main" val="92231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D28A-A925-4537-C4A6-AE51FDDB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05AB1-E62C-EE06-489B-43E79C2C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1AB1F-F0D9-2305-3337-036CF2FF6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91173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선택 표현과 처리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강력한 정적 자료형 언어인 </a:t>
            </a:r>
            <a:r>
              <a:rPr lang="en-US" altLang="ko-KR" sz="2400" dirty="0">
                <a:solidFill>
                  <a:srgbClr val="000000"/>
                </a:solidFill>
              </a:rPr>
              <a:t>Kotlin</a:t>
            </a:r>
            <a:r>
              <a:rPr lang="ko-KR" altLang="en-US" sz="2400" dirty="0">
                <a:solidFill>
                  <a:srgbClr val="000000"/>
                </a:solidFill>
              </a:rPr>
              <a:t>에서 </a:t>
            </a:r>
            <a:r>
              <a:rPr lang="ko-KR" altLang="en-US" sz="2400" b="1" dirty="0">
                <a:solidFill>
                  <a:srgbClr val="FF5722"/>
                </a:solidFill>
              </a:rPr>
              <a:t>컴파일과 런타임의 시간 배치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안정성과 효율을 가르는 중요</a:t>
            </a:r>
            <a:r>
              <a:rPr lang="ko-KR" altLang="en-US" sz="2400" dirty="0">
                <a:solidFill>
                  <a:srgbClr val="000000"/>
                </a:solidFill>
              </a:rPr>
              <a:t>한 내용들임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2400" dirty="0" err="1">
                <a:solidFill>
                  <a:srgbClr val="000000"/>
                </a:solidFill>
              </a:rPr>
              <a:t>enum</a:t>
            </a:r>
            <a:r>
              <a:rPr lang="en-US" altLang="ko-KR" sz="2400" dirty="0">
                <a:solidFill>
                  <a:srgbClr val="000000"/>
                </a:solidFill>
              </a:rPr>
              <a:t>, when, </a:t>
            </a:r>
            <a:r>
              <a:rPr lang="ko-KR" altLang="en-US" sz="2400" dirty="0">
                <a:solidFill>
                  <a:srgbClr val="000000"/>
                </a:solidFill>
              </a:rPr>
              <a:t>스마트 캐스트 </a:t>
            </a:r>
            <a:r>
              <a:rPr lang="ko-KR" altLang="en-US" sz="2400" dirty="0" err="1">
                <a:solidFill>
                  <a:srgbClr val="000000"/>
                </a:solidFill>
              </a:rPr>
              <a:t>등장ㄷㄷ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833D216-683A-6998-D91D-79F02CCDB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그림 3" descr="선택과 집중의 기술 | 김현기 - 교보문고">
            <a:extLst>
              <a:ext uri="{FF2B5EF4-FFF2-40B4-BE49-F238E27FC236}">
                <a16:creationId xmlns:a16="http://schemas.microsoft.com/office/drawing/2014/main" id="{EC7ECCDA-B397-8B0F-6DEA-55EBEE3A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387" y="675495"/>
            <a:ext cx="3781425" cy="550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63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DFF0-18CF-ACAA-A492-9C906431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27322-4D3F-A54D-7CE7-D9229A19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709C4B-8CDD-6F9A-AEFF-09A2D0799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863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en-US" altLang="ko-KR" sz="3200" b="1" dirty="0" err="1">
                <a:latin typeface="+mn-ea"/>
              </a:rPr>
              <a:t>enum</a:t>
            </a:r>
            <a:r>
              <a:rPr lang="en-US" altLang="ko-KR" sz="3200" b="1" dirty="0">
                <a:latin typeface="+mn-ea"/>
              </a:rPr>
              <a:t> class</a:t>
            </a:r>
          </a:p>
          <a:p>
            <a:pPr>
              <a:lnSpc>
                <a:spcPct val="200000"/>
              </a:lnSpc>
            </a:pPr>
            <a:r>
              <a:rPr lang="ko-KR" altLang="en-US" sz="2400" dirty="0" err="1">
                <a:solidFill>
                  <a:srgbClr val="000000"/>
                </a:solidFill>
              </a:rPr>
              <a:t>코틀린에서</a:t>
            </a:r>
            <a:r>
              <a:rPr lang="ko-KR" altLang="en-US" sz="2400" dirty="0">
                <a:solidFill>
                  <a:srgbClr val="000000"/>
                </a:solidFill>
              </a:rPr>
              <a:t> </a:t>
            </a:r>
            <a:r>
              <a:rPr lang="en-US" altLang="ko-KR" sz="2400" dirty="0" err="1">
                <a:solidFill>
                  <a:srgbClr val="000000"/>
                </a:solidFill>
              </a:rPr>
              <a:t>enum</a:t>
            </a:r>
            <a:r>
              <a:rPr lang="ko-KR" altLang="en-US" sz="2400" dirty="0">
                <a:solidFill>
                  <a:srgbClr val="000000"/>
                </a:solidFill>
              </a:rPr>
              <a:t>은 소프트 키워드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정의된 프로퍼티를 아이템에게 지정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아이템 목록과 메서드 정의를 구분하는 세미콜론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6B5126D8-CD3F-9CFE-FE3E-AB47319A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792D2-3E76-C18C-89D7-38C2389320D8}"/>
              </a:ext>
            </a:extLst>
          </p:cNvPr>
          <p:cNvSpPr txBox="1"/>
          <p:nvPr/>
        </p:nvSpPr>
        <p:spPr>
          <a:xfrm>
            <a:off x="6677025" y="1074510"/>
            <a:ext cx="52006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enum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255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),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255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),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70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38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121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),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255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rgb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(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256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* </a:t>
            </a:r>
            <a:r>
              <a:rPr lang="ko-KR" altLang="ko-KR" sz="20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256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b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rgb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r>
              <a:rPr lang="ko-KR" altLang="ko-KR" sz="20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692B9-E7F3-A07A-2660-1584F993E08D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Color.kt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2850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4827-769B-4C62-4F88-CADB1848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2B90E-B703-8962-F753-E49A7E7E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C95D14-AB2D-C57F-8F68-919A49C80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086349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when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자바에선 </a:t>
            </a:r>
            <a:r>
              <a:rPr lang="en-US" altLang="ko-KR" sz="2400" dirty="0">
                <a:solidFill>
                  <a:srgbClr val="000000"/>
                </a:solidFill>
              </a:rPr>
              <a:t>switch</a:t>
            </a:r>
            <a:r>
              <a:rPr lang="ko-KR" altLang="en-US" sz="2400" dirty="0">
                <a:solidFill>
                  <a:srgbClr val="000000"/>
                </a:solidFill>
              </a:rPr>
              <a:t>라고 생각하면 됨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컴파일 시간에 가능한 아이템 목록을 이용해 분기의 완전성을 검사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실체 객체가 어느 아이템인지 조건 검사해서 분기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320BFA8C-A407-9A29-C31C-D31ED18B0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2F58C-425F-098E-D70D-B83A3AFED56E}"/>
              </a:ext>
            </a:extLst>
          </p:cNvPr>
          <p:cNvSpPr txBox="1"/>
          <p:nvPr/>
        </p:nvSpPr>
        <p:spPr>
          <a:xfrm>
            <a:off x="6400800" y="1074510"/>
            <a:ext cx="57911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getMnemonic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 when</a:t>
            </a:r>
            <a:r>
              <a:rPr lang="ko-KR" altLang="en-US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과 컴파일 결과가 거의 같은 코드</a:t>
            </a:r>
          </a:p>
          <a:p>
            <a:pPr>
              <a:buNone/>
            </a:pPr>
            <a:r>
              <a:rPr lang="ko-KR" altLang="en-US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 (color == </a:t>
            </a:r>
            <a:r>
              <a:rPr lang="en-US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Color.RED</a:t>
            </a: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){}</a:t>
            </a:r>
          </a:p>
          <a:p>
            <a:pPr>
              <a:buNone/>
            </a:pP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else if (color == </a:t>
            </a:r>
            <a:r>
              <a:rPr lang="en-US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Color.BLUE</a:t>
            </a: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){}</a:t>
            </a:r>
          </a:p>
          <a:p>
            <a:pPr>
              <a:buNone/>
            </a:pP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else if (color == </a:t>
            </a:r>
            <a:r>
              <a:rPr lang="en-US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Color.GREEN</a:t>
            </a: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){}</a:t>
            </a:r>
          </a:p>
          <a:p>
            <a:pPr>
              <a:buNone/>
            </a:pP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else if (color == </a:t>
            </a:r>
            <a:r>
              <a:rPr lang="en-US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Color.PURPLE</a:t>
            </a: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){}</a:t>
            </a:r>
          </a:p>
          <a:p>
            <a:pPr>
              <a:buNone/>
            </a:pPr>
            <a:r>
              <a:rPr lang="en-US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*/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when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415C0-7EBC-9078-3240-C64926E2F5CD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getMnemonic.kt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5438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5C7E-97A6-7281-0829-06DD75A3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D8AC1-4411-208D-2A80-EB70A6B7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1503F-91DD-11FB-63C5-B0C09FA8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086349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when </a:t>
            </a:r>
            <a:r>
              <a:rPr lang="ko-KR" altLang="en-US" sz="3200" b="1" dirty="0">
                <a:latin typeface="+mn-ea"/>
              </a:rPr>
              <a:t>활용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분기 안에 여러 값 사용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클래스 </a:t>
            </a:r>
            <a:r>
              <a:rPr lang="ko-KR" altLang="en-US" sz="2400" dirty="0" err="1">
                <a:solidFill>
                  <a:srgbClr val="000000"/>
                </a:solidFill>
              </a:rPr>
              <a:t>수식자</a:t>
            </a:r>
            <a:r>
              <a:rPr lang="ko-KR" altLang="en-US" sz="2400" dirty="0">
                <a:solidFill>
                  <a:srgbClr val="000000"/>
                </a:solidFill>
              </a:rPr>
              <a:t> 없이 아이템 사용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when </a:t>
            </a:r>
            <a:r>
              <a:rPr lang="ko-KR" altLang="en-US" sz="2400" dirty="0">
                <a:solidFill>
                  <a:srgbClr val="000000"/>
                </a:solidFill>
              </a:rPr>
              <a:t>영역에 제한되는 변수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분기 조건에 다른 여러 객체 사용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DCD1C2E0-AEB4-E2E0-E11F-C99762052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055B4-EEED-C26A-02A9-205BAC0ACF6B}"/>
              </a:ext>
            </a:extLst>
          </p:cNvPr>
          <p:cNvSpPr txBox="1"/>
          <p:nvPr/>
        </p:nvSpPr>
        <p:spPr>
          <a:xfrm>
            <a:off x="6677025" y="1690063"/>
            <a:ext cx="52006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import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kos.chapter2.color.Color.*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getWarmthFromSensor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when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readln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()){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b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b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b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b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throw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2B136-BECC-A3A2-5721-38FC0FD8AE71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getWarmthFromSensor.kt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092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FFF0-5173-C6EF-6F52-87D9FCB4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B1D49-BEF6-DEC0-3158-B3803641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56872-749B-CDE5-C749-0602C11C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086349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인자가 없는 </a:t>
            </a:r>
            <a:r>
              <a:rPr lang="en-US" altLang="ko-KR" sz="3200" b="1" dirty="0">
                <a:latin typeface="+mn-ea"/>
              </a:rPr>
              <a:t>when</a:t>
            </a:r>
          </a:p>
          <a:p>
            <a:pPr>
              <a:lnSpc>
                <a:spcPct val="2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매우 비효율적임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ko-KR" altLang="en-US" sz="2400" dirty="0" err="1">
                <a:solidFill>
                  <a:srgbClr val="000000"/>
                </a:solidFill>
              </a:rPr>
              <a:t>코틀린에선</a:t>
            </a:r>
            <a:r>
              <a:rPr lang="ko-KR" altLang="en-US" sz="2400" dirty="0">
                <a:solidFill>
                  <a:srgbClr val="000000"/>
                </a:solidFill>
              </a:rPr>
              <a:t> 지양하는 방식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5E11975C-CEB7-C77D-6CB9-685817A8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F36F2-57BD-4327-A5A7-3802EB5074B2}"/>
              </a:ext>
            </a:extLst>
          </p:cNvPr>
          <p:cNvSpPr txBox="1"/>
          <p:nvPr/>
        </p:nvSpPr>
        <p:spPr>
          <a:xfrm>
            <a:off x="6677025" y="2305616"/>
            <a:ext cx="52006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when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red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blue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green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</a:t>
            </a:r>
            <a:r>
              <a:rPr lang="ko-KR" altLang="ko-KR" sz="20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purple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throw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46D40-0158-C7CA-F2AC-77B972E3C7C8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getMnemonic.kt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8827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2B2E3-0B88-50A7-A888-CBAB012A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7B18A-20B6-C3B8-354B-82B2E84D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5D6E2-A49A-F247-B0FF-2BAB04844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553074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스마트 캐스트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as</a:t>
            </a:r>
            <a:r>
              <a:rPr lang="ko-KR" altLang="en-US" sz="2400" b="1" dirty="0">
                <a:solidFill>
                  <a:srgbClr val="FF5722"/>
                </a:solidFill>
              </a:rPr>
              <a:t>를 통해 수동으로 타입 캐스트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is</a:t>
            </a:r>
            <a:r>
              <a:rPr lang="ko-KR" altLang="en-US" sz="2400" b="1" dirty="0">
                <a:solidFill>
                  <a:srgbClr val="FF5722"/>
                </a:solidFill>
              </a:rPr>
              <a:t>를 통해 타입을 검사</a:t>
            </a:r>
            <a:r>
              <a:rPr lang="en-US" altLang="ko-KR" sz="2400" b="1" dirty="0">
                <a:solidFill>
                  <a:srgbClr val="FF5722"/>
                </a:solidFill>
              </a:rPr>
              <a:t>. Boolean</a:t>
            </a:r>
            <a:r>
              <a:rPr lang="ko-KR" altLang="en-US" sz="2400" b="1" dirty="0">
                <a:solidFill>
                  <a:srgbClr val="FF5722"/>
                </a:solidFill>
              </a:rPr>
              <a:t>을 반환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dirty="0">
                <a:solidFill>
                  <a:srgbClr val="000000"/>
                </a:solidFill>
              </a:rPr>
              <a:t>자바에선 </a:t>
            </a:r>
            <a:r>
              <a:rPr lang="en-US" altLang="ko-KR" sz="2400" dirty="0" err="1">
                <a:solidFill>
                  <a:srgbClr val="000000"/>
                </a:solidFill>
              </a:rPr>
              <a:t>instanceof</a:t>
            </a:r>
            <a:r>
              <a:rPr lang="ko-KR" altLang="en-US" sz="2400" dirty="0">
                <a:solidFill>
                  <a:srgbClr val="000000"/>
                </a:solidFill>
              </a:rPr>
              <a:t>에 해당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변수의 </a:t>
            </a:r>
            <a:r>
              <a:rPr lang="ko-KR" altLang="en-US" sz="2400" b="1" dirty="0">
                <a:solidFill>
                  <a:srgbClr val="FF5722"/>
                </a:solidFill>
              </a:rPr>
              <a:t>자료형이 결정된 영역에선 그 자료형으로 자동 타입 캐스트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  <a:r>
              <a:rPr lang="ko-KR" altLang="en-US" sz="2400" b="1" dirty="0">
                <a:solidFill>
                  <a:srgbClr val="FF5722"/>
                </a:solidFill>
              </a:rPr>
              <a:t> 컴파일 시점에 암묵적 형 변환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AEC5B112-FE19-A0B2-B4ED-B699292A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7B4B8-1B26-1CB6-1461-D159BD82F006}"/>
              </a:ext>
            </a:extLst>
          </p:cNvPr>
          <p:cNvSpPr txBox="1"/>
          <p:nvPr/>
        </p:nvSpPr>
        <p:spPr>
          <a:xfrm>
            <a:off x="6591298" y="1289953"/>
            <a:ext cx="542925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b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b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left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right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b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불필요한 명시적 형 변환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b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right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+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left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throw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),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)),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4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))))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0F269-2CD7-5E46-A9DF-064FA972F15B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eval.kt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543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A33B9-57B2-8698-EC73-E70B4352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E0F37-0967-3725-A2F0-6A8DB381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이넘과</a:t>
            </a:r>
            <a:r>
              <a:rPr lang="ko-KR" altLang="en-US" dirty="0"/>
              <a:t> </a:t>
            </a:r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B38417-1FA1-E3A8-C20D-604AF91C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572124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en-US" altLang="ko-KR" sz="3200" b="1" dirty="0" err="1">
                <a:latin typeface="+mn-ea"/>
              </a:rPr>
              <a:t>enum</a:t>
            </a:r>
            <a:r>
              <a:rPr lang="ko-KR" altLang="en-US" sz="3200" b="1" dirty="0">
                <a:latin typeface="+mn-ea"/>
              </a:rPr>
              <a:t>의 메소드 상속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when</a:t>
            </a:r>
            <a:r>
              <a:rPr lang="ko-KR" altLang="en-US" sz="2400" dirty="0">
                <a:solidFill>
                  <a:srgbClr val="000000"/>
                </a:solidFill>
              </a:rPr>
              <a:t>에 비해 컴파일 시간이 매우 짧음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동적 </a:t>
            </a:r>
            <a:r>
              <a:rPr lang="ko-KR" altLang="en-US" sz="2400" dirty="0" err="1">
                <a:solidFill>
                  <a:srgbClr val="000000"/>
                </a:solidFill>
              </a:rPr>
              <a:t>디스패치를</a:t>
            </a:r>
            <a:r>
              <a:rPr lang="ko-KR" altLang="en-US" sz="2400" dirty="0">
                <a:solidFill>
                  <a:srgbClr val="000000"/>
                </a:solidFill>
              </a:rPr>
              <a:t> 통해 </a:t>
            </a:r>
            <a:r>
              <a:rPr lang="ko-KR" altLang="en-US" sz="2400" b="1" dirty="0">
                <a:solidFill>
                  <a:srgbClr val="FF5722"/>
                </a:solidFill>
              </a:rPr>
              <a:t>런타임에 자료형과 동작을 결정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 err="1">
                <a:solidFill>
                  <a:srgbClr val="000000"/>
                </a:solidFill>
              </a:rPr>
              <a:t>enum</a:t>
            </a:r>
            <a:r>
              <a:rPr lang="ko-KR" altLang="en-US" sz="2400" dirty="0">
                <a:solidFill>
                  <a:srgbClr val="000000"/>
                </a:solidFill>
              </a:rPr>
              <a:t>이 가진 필드 등 </a:t>
            </a:r>
            <a:r>
              <a:rPr lang="ko-KR" altLang="en-US" sz="2400" b="1" dirty="0">
                <a:solidFill>
                  <a:srgbClr val="FF5722"/>
                </a:solidFill>
              </a:rPr>
              <a:t>알고 있거나 </a:t>
            </a:r>
            <a:r>
              <a:rPr lang="ko-KR" altLang="en-US" sz="2400" b="1" dirty="0" err="1">
                <a:solidFill>
                  <a:srgbClr val="FF5722"/>
                </a:solidFill>
              </a:rPr>
              <a:t>지녀야하는</a:t>
            </a:r>
            <a:r>
              <a:rPr lang="ko-KR" altLang="en-US" sz="2400" b="1" dirty="0">
                <a:solidFill>
                  <a:srgbClr val="FF5722"/>
                </a:solidFill>
              </a:rPr>
              <a:t> 정보들로 정의하는 것을 추천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B9703580-D6A8-54E0-8994-6BD8877C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7DC3E-A74C-2474-F297-91C056DF3AA2}"/>
              </a:ext>
            </a:extLst>
          </p:cNvPr>
          <p:cNvSpPr txBox="1"/>
          <p:nvPr/>
        </p:nvSpPr>
        <p:spPr>
          <a:xfrm>
            <a:off x="6677025" y="335846"/>
            <a:ext cx="520065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enum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AlarmType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NOTICE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handle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"공지 알림 처리"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},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handle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"링크 알림 처리"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},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handle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"폴더 알림 처리"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};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abstract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handle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9E22F-1E79-B470-41CF-9AA41AAE045D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AlarmType.kt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925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2E88D-AECE-BD95-F9CA-D046EE50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9D585-C2B4-7FCD-B68F-B5283019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B01D0C-7473-8EDD-BF5E-D36082B1A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10350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루프와 </a:t>
            </a:r>
            <a:r>
              <a:rPr lang="ko-KR" altLang="en-US" sz="3200" b="1" dirty="0" err="1">
                <a:latin typeface="+mn-ea"/>
              </a:rPr>
              <a:t>이터레이션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/>
              <a:t>loop: </a:t>
            </a:r>
            <a:r>
              <a:rPr lang="ko-KR" altLang="en-US" sz="2400" b="1" dirty="0">
                <a:solidFill>
                  <a:srgbClr val="FF5722"/>
                </a:solidFill>
              </a:rPr>
              <a:t>반복을 가능하게 하는 구조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 err="1">
                <a:solidFill>
                  <a:srgbClr val="FF5722"/>
                </a:solidFill>
              </a:rPr>
              <a:t>저글링</a:t>
            </a:r>
            <a:r>
              <a:rPr lang="ko-KR" altLang="en-US" sz="2400" b="1" dirty="0">
                <a:solidFill>
                  <a:srgbClr val="FF5722"/>
                </a:solidFill>
              </a:rPr>
              <a:t> 쇼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 err="1"/>
              <a:t>iterable</a:t>
            </a:r>
            <a:r>
              <a:rPr lang="en-US" altLang="ko-KR" sz="2400" dirty="0"/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반복될 수 있는 대상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공 </a:t>
            </a:r>
            <a:r>
              <a:rPr lang="ko-KR" altLang="en-US" sz="2400" b="1" dirty="0" err="1">
                <a:solidFill>
                  <a:srgbClr val="FF5722"/>
                </a:solidFill>
              </a:rPr>
              <a:t>뭉탱이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ko-KR" sz="2400" dirty="0" err="1"/>
              <a:t>iteration</a:t>
            </a:r>
            <a:r>
              <a:rPr lang="en-US" altLang="ko-KR" sz="2400" dirty="0"/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한 번 실행되는 반복 </a:t>
            </a:r>
            <a:r>
              <a:rPr lang="ko-KR" altLang="en-US" sz="2400" b="1" dirty="0" err="1">
                <a:solidFill>
                  <a:srgbClr val="FF5722"/>
                </a:solidFill>
              </a:rPr>
              <a:t>회차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공 한 바퀴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iterator: </a:t>
            </a:r>
            <a:r>
              <a:rPr lang="ko-KR" altLang="en-US" sz="2400" b="1" dirty="0">
                <a:solidFill>
                  <a:srgbClr val="FF5722"/>
                </a:solidFill>
              </a:rPr>
              <a:t>반복을 실제로 진행하는 객체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사람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B2B891D-7296-F29C-4CB9-D85B3851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그림 13" descr="ボールジャグリングのイラスト | かわいいフリー素材集 いらすとや">
            <a:extLst>
              <a:ext uri="{FF2B5EF4-FFF2-40B4-BE49-F238E27FC236}">
                <a16:creationId xmlns:a16="http://schemas.microsoft.com/office/drawing/2014/main" id="{B3842A31-DC07-B194-9761-6CCC17A7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287" y="789383"/>
            <a:ext cx="4295976" cy="52792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8F352C-2C86-46C9-4C34-59D22BB60421}"/>
              </a:ext>
            </a:extLst>
          </p:cNvPr>
          <p:cNvSpPr txBox="1"/>
          <p:nvPr/>
        </p:nvSpPr>
        <p:spPr>
          <a:xfrm>
            <a:off x="9163050" y="4476750"/>
            <a:ext cx="1057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iterator</a:t>
            </a:r>
            <a:endParaRPr lang="ko-KR" altLang="en-US" sz="14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5B8C6BB-0873-7A93-6FBF-44F79950D645}"/>
              </a:ext>
            </a:extLst>
          </p:cNvPr>
          <p:cNvSpPr/>
          <p:nvPr/>
        </p:nvSpPr>
        <p:spPr>
          <a:xfrm>
            <a:off x="7515225" y="590550"/>
            <a:ext cx="3962400" cy="5829300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B68E45-3250-94C5-EB6B-919B18E7206F}"/>
              </a:ext>
            </a:extLst>
          </p:cNvPr>
          <p:cNvSpPr txBox="1"/>
          <p:nvPr/>
        </p:nvSpPr>
        <p:spPr>
          <a:xfrm>
            <a:off x="9005888" y="274736"/>
            <a:ext cx="1057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loop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CCF438-6A97-4458-7A68-31D9F02C2037}"/>
              </a:ext>
            </a:extLst>
          </p:cNvPr>
          <p:cNvSpPr txBox="1"/>
          <p:nvPr/>
        </p:nvSpPr>
        <p:spPr>
          <a:xfrm>
            <a:off x="10534650" y="2052646"/>
            <a:ext cx="83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iterator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83508-794A-7058-5666-6192C348FD90}"/>
              </a:ext>
            </a:extLst>
          </p:cNvPr>
          <p:cNvSpPr txBox="1"/>
          <p:nvPr/>
        </p:nvSpPr>
        <p:spPr>
          <a:xfrm>
            <a:off x="9005888" y="1667766"/>
            <a:ext cx="1057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iteration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8401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3649-CEB6-D532-0DEF-307DED44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3A290-DDF4-696D-9409-D21977BB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96ED9-9083-9E2A-776D-4617EF137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10350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루프와 </a:t>
            </a:r>
            <a:r>
              <a:rPr lang="ko-KR" altLang="en-US" sz="3200" b="1" dirty="0" err="1">
                <a:latin typeface="+mn-ea"/>
              </a:rPr>
              <a:t>이터레이션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/>
              <a:t>loop: </a:t>
            </a:r>
            <a:r>
              <a:rPr lang="ko-KR" altLang="en-US" sz="2400" b="1" dirty="0">
                <a:solidFill>
                  <a:srgbClr val="FF5722"/>
                </a:solidFill>
              </a:rPr>
              <a:t>반복을 가능하게 하는 구조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 err="1">
                <a:solidFill>
                  <a:srgbClr val="FF5722"/>
                </a:solidFill>
              </a:rPr>
              <a:t>저글링</a:t>
            </a:r>
            <a:r>
              <a:rPr lang="ko-KR" altLang="en-US" sz="2400" b="1" dirty="0">
                <a:solidFill>
                  <a:srgbClr val="FF5722"/>
                </a:solidFill>
              </a:rPr>
              <a:t> 쇼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 err="1"/>
              <a:t>iterable</a:t>
            </a:r>
            <a:r>
              <a:rPr lang="en-US" altLang="ko-KR" sz="2400" dirty="0"/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반복될 수 있는 대상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공 </a:t>
            </a:r>
            <a:r>
              <a:rPr lang="ko-KR" altLang="en-US" sz="2400" b="1" dirty="0" err="1">
                <a:solidFill>
                  <a:srgbClr val="FF5722"/>
                </a:solidFill>
              </a:rPr>
              <a:t>뭉탱이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ko-KR" sz="2400" dirty="0" err="1"/>
              <a:t>iteration</a:t>
            </a:r>
            <a:r>
              <a:rPr lang="en-US" altLang="ko-KR" sz="2400" dirty="0"/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한 번 실행되는 반복 </a:t>
            </a:r>
            <a:r>
              <a:rPr lang="ko-KR" altLang="en-US" sz="2400" b="1" dirty="0" err="1">
                <a:solidFill>
                  <a:srgbClr val="FF5722"/>
                </a:solidFill>
              </a:rPr>
              <a:t>회차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공 한 바퀴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iterator: </a:t>
            </a:r>
            <a:r>
              <a:rPr lang="ko-KR" altLang="en-US" sz="2400" b="1" dirty="0">
                <a:solidFill>
                  <a:srgbClr val="FF5722"/>
                </a:solidFill>
              </a:rPr>
              <a:t>반복을 실제로 진행하는 객체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사람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5734EA1B-2677-54B2-754F-A21D26416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9E315-36D0-0EAE-BAEA-443DC1E2A03B}"/>
              </a:ext>
            </a:extLst>
          </p:cNvPr>
          <p:cNvSpPr txBox="1"/>
          <p:nvPr/>
        </p:nvSpPr>
        <p:spPr>
          <a:xfrm>
            <a:off x="7486649" y="1536174"/>
            <a:ext cx="44577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listOf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iterator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iterator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iterator.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hasNext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iterator.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next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23BC8-415E-CD75-2B0B-D40DBDAAC4A9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f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or</a:t>
            </a: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726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A2FD4-9014-BA30-7AB0-8958B39B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B11B2-972C-6BCE-B16A-D2ECCE96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282BE-D261-11AB-6404-BCE72B906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43575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while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조건이 참인 동안 본문을 반복 실행한다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break</a:t>
            </a:r>
            <a:r>
              <a:rPr lang="ko-KR" altLang="en-US" sz="2400" dirty="0"/>
              <a:t>로 루프를 끝낼 수 있고 </a:t>
            </a:r>
            <a:r>
              <a:rPr lang="en-US" altLang="ko-KR" sz="2400" dirty="0"/>
              <a:t>continue</a:t>
            </a:r>
            <a:r>
              <a:rPr lang="ko-KR" altLang="en-US" sz="2400" dirty="0"/>
              <a:t>로 다음 </a:t>
            </a:r>
            <a:r>
              <a:rPr lang="ko-KR" altLang="en-US" sz="2400" dirty="0" err="1"/>
              <a:t>이터레이션으로</a:t>
            </a:r>
            <a:r>
              <a:rPr lang="ko-KR" altLang="en-US" sz="2400" dirty="0"/>
              <a:t> 넘어갈 수 있음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지정된 레이블로 중첩 루프에서 루프를 정할 수 있음</a:t>
            </a:r>
            <a:r>
              <a:rPr lang="en-US" altLang="ko-KR" sz="2400" dirty="0"/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9B71E52B-4212-C1A3-7B61-28888419B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57036-FA88-A57B-4939-9B7ABA88AC61}"/>
              </a:ext>
            </a:extLst>
          </p:cNvPr>
          <p:cNvSpPr txBox="1"/>
          <p:nvPr/>
        </p:nvSpPr>
        <p:spPr>
          <a:xfrm>
            <a:off x="6677025" y="982177"/>
            <a:ext cx="52006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b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&lt;= </a:t>
            </a:r>
            <a: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++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1 2 3 4 5 6 7 8 9 10</a:t>
            </a:r>
            <a:b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b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--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</a:t>
            </a:r>
            <a:r>
              <a:rPr lang="ko-KR" altLang="ko-KR" sz="2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ko-KR" altLang="ko-KR" sz="2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10 9 8 7 6 5 4 3 2 1</a:t>
            </a:r>
            <a:endParaRPr lang="ko-KR" altLang="ko-KR" sz="24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06C66-C188-4ABF-1D2D-C6BF40871E70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while.kt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3736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59E98-9140-753E-931B-A9F2F233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91E1E-8B4E-A4E7-E242-51EC90BB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CCF41-C22E-2F35-349C-3B1370DA3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43575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while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조건이 참인 동안 본문을 반복 실행한다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break</a:t>
            </a:r>
            <a:r>
              <a:rPr lang="ko-KR" altLang="en-US" sz="2400" dirty="0"/>
              <a:t>로 루프를 끝낼 수 있고 </a:t>
            </a:r>
            <a:r>
              <a:rPr lang="en-US" altLang="ko-KR" sz="2400" dirty="0"/>
              <a:t>continue</a:t>
            </a:r>
            <a:r>
              <a:rPr lang="ko-KR" altLang="en-US" sz="2400" dirty="0"/>
              <a:t>로 다음 </a:t>
            </a:r>
            <a:r>
              <a:rPr lang="ko-KR" altLang="en-US" sz="2400" dirty="0" err="1"/>
              <a:t>이터레이션으로</a:t>
            </a:r>
            <a:r>
              <a:rPr lang="ko-KR" altLang="en-US" sz="2400" dirty="0"/>
              <a:t> 넘어갈 수 있음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지정된 레이블로 중첩 루프에서 루프를 정할 수 있음</a:t>
            </a:r>
            <a:r>
              <a:rPr lang="en-US" altLang="ko-KR" sz="2400" dirty="0"/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725702E3-509E-5CA9-2D47-E01BD45C1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410DD-DFD9-C0FF-C599-8EEC4B532AA8}"/>
              </a:ext>
            </a:extLst>
          </p:cNvPr>
          <p:cNvSpPr txBox="1"/>
          <p:nvPr/>
        </p:nvSpPr>
        <p:spPr>
          <a:xfrm>
            <a:off x="6600824" y="1074510"/>
            <a:ext cx="559117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outerCondition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innerCondition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shouldExitInner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shouldSkipInner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shouldExitOuter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shouldSkipOuter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b="1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20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outerCondition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innerCondition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shouldExitInner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break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shouldSkipInner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continue</a:t>
            </a:r>
            <a:b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shouldExitOuter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break</a:t>
            </a:r>
            <a:r>
              <a:rPr lang="ko-KR" altLang="ko-KR" sz="2000" b="1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@outer</a:t>
            </a:r>
            <a:br>
              <a:rPr lang="ko-KR" altLang="ko-KR" sz="20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shouldSkipOuter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continue</a:t>
            </a:r>
            <a:r>
              <a:rPr lang="ko-KR" altLang="ko-KR" sz="2000" b="1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@outer</a:t>
            </a:r>
            <a:br>
              <a:rPr lang="ko-KR" altLang="ko-KR" sz="20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7F98-2B53-FC76-C6A6-0BD71B114ABA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while.kt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37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32CE-EBD7-2401-98A6-B9841CF7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C024E-ABA2-9365-1472-E9DA1160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DDEA7-FF55-9D88-DC2A-1DE4096E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43575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for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어떤 변수를 초기화하고 루프를 한 번 실행할 때마다 그 변수를 갱신하고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값이 어떤 경계에 도달하면 중단시켜주는 루프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while</a:t>
            </a:r>
            <a:r>
              <a:rPr lang="ko-KR" altLang="en-US" sz="2400" dirty="0"/>
              <a:t>과 같이 </a:t>
            </a:r>
            <a:r>
              <a:rPr lang="en-US" altLang="ko-KR" sz="2400" dirty="0"/>
              <a:t>break, continue, </a:t>
            </a:r>
            <a:r>
              <a:rPr lang="ko-KR" altLang="en-US" sz="2400" dirty="0"/>
              <a:t>레이블 사용 가능</a:t>
            </a:r>
            <a:r>
              <a:rPr lang="en-US" altLang="ko-KR" sz="2400" dirty="0"/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114A5C91-27A6-7273-413F-68E76DBD2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D257E-2DF2-727C-BC1A-966570C4D775}"/>
              </a:ext>
            </a:extLst>
          </p:cNvPr>
          <p:cNvSpPr txBox="1"/>
          <p:nvPr/>
        </p:nvSpPr>
        <p:spPr>
          <a:xfrm>
            <a:off x="7486649" y="305068"/>
            <a:ext cx="411480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fizzBuzz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when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피즈버즈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"</a:t>
            </a:r>
            <a:b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피즈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"</a:t>
            </a:r>
            <a:b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버즈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"</a:t>
            </a:r>
            <a:b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기본 범위 순방향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fizzBuzz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downTo</a:t>
            </a:r>
            <a: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step</a:t>
            </a:r>
            <a: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fizzBuzz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until</a:t>
            </a:r>
            <a: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DF409-2B88-9790-F1CE-6E145A82BE25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fizzBuzz.kt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2639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9549-8CF3-8FB3-7586-A8D9822B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F1A64-7E93-3CB3-7F92-F2A4A686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4E8F68-9898-7533-4CD1-D00E6DA06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43575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맵에</a:t>
            </a:r>
            <a:r>
              <a:rPr lang="ko-KR" altLang="en-US" sz="3200" b="1" dirty="0">
                <a:latin typeface="+mn-ea"/>
              </a:rPr>
              <a:t> 대한 </a:t>
            </a:r>
            <a:r>
              <a:rPr lang="ko-KR" altLang="en-US" sz="3200" b="1" dirty="0" err="1">
                <a:latin typeface="+mn-ea"/>
              </a:rPr>
              <a:t>이터레이션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for</a:t>
            </a:r>
            <a:r>
              <a:rPr lang="ko-KR" altLang="en-US" sz="2400" b="1" dirty="0">
                <a:solidFill>
                  <a:srgbClr val="FF5722"/>
                </a:solidFill>
              </a:rPr>
              <a:t>문과 </a:t>
            </a:r>
            <a:r>
              <a:rPr lang="en-US" altLang="ko-KR" sz="2400" b="1" dirty="0">
                <a:solidFill>
                  <a:srgbClr val="FF5722"/>
                </a:solidFill>
              </a:rPr>
              <a:t>in</a:t>
            </a:r>
            <a:r>
              <a:rPr lang="ko-KR" altLang="en-US" sz="2400" b="1" dirty="0">
                <a:solidFill>
                  <a:srgbClr val="FF5722"/>
                </a:solidFill>
              </a:rPr>
              <a:t>을 통해 </a:t>
            </a:r>
            <a:r>
              <a:rPr lang="en-US" altLang="ko-KR" sz="2400" b="1" dirty="0">
                <a:solidFill>
                  <a:srgbClr val="FF5722"/>
                </a:solidFill>
              </a:rPr>
              <a:t>Key -</a:t>
            </a:r>
            <a:r>
              <a:rPr lang="ko-KR" altLang="en-US" sz="2400" b="1" dirty="0">
                <a:solidFill>
                  <a:srgbClr val="FF5722"/>
                </a:solidFill>
              </a:rPr>
              <a:t> </a:t>
            </a:r>
            <a:r>
              <a:rPr lang="en-US" altLang="ko-KR" sz="2400" b="1" dirty="0">
                <a:solidFill>
                  <a:srgbClr val="FF5722"/>
                </a:solidFill>
              </a:rPr>
              <a:t>Value</a:t>
            </a:r>
            <a:r>
              <a:rPr lang="ko-KR" altLang="en-US" sz="2400" b="1" dirty="0">
                <a:solidFill>
                  <a:srgbClr val="FF5722"/>
                </a:solidFill>
              </a:rPr>
              <a:t> 쌍으로 변수들을 초기화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키와 값을 </a:t>
            </a:r>
            <a:r>
              <a:rPr lang="en-US" altLang="ko-KR" sz="2400" dirty="0">
                <a:solidFill>
                  <a:srgbClr val="000000"/>
                </a:solidFill>
              </a:rPr>
              <a:t>2</a:t>
            </a:r>
            <a:r>
              <a:rPr lang="ko-KR" altLang="en-US" sz="2400" dirty="0">
                <a:solidFill>
                  <a:srgbClr val="000000"/>
                </a:solidFill>
              </a:rPr>
              <a:t>개의 변수에 받거나</a:t>
            </a:r>
            <a:r>
              <a:rPr lang="en-US" altLang="ko-KR" sz="2400" dirty="0">
                <a:solidFill>
                  <a:srgbClr val="000000"/>
                </a:solidFill>
              </a:rPr>
              <a:t>, Pair </a:t>
            </a:r>
            <a:r>
              <a:rPr lang="ko-KR" altLang="en-US" sz="2400" dirty="0">
                <a:solidFill>
                  <a:srgbClr val="000000"/>
                </a:solidFill>
              </a:rPr>
              <a:t>형식의 하나의 변수로 받을 수 있음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2BAF8D98-4EAA-6393-AC88-74FF94E9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13A0A-F00D-86C8-6432-951813FD0B32}"/>
              </a:ext>
            </a:extLst>
          </p:cNvPr>
          <p:cNvSpPr txBox="1"/>
          <p:nvPr/>
        </p:nvSpPr>
        <p:spPr>
          <a:xfrm>
            <a:off x="6734174" y="1659285"/>
            <a:ext cx="54578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fun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main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() {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val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binaryReps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= 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mutableMapOf</a:t>
            </a:r>
            <a:r>
              <a:rPr kumimoji="0" lang="en-US" altLang="ko-KR" sz="1600" b="0" i="1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&lt;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,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String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&gt;()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for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in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'A'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..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'F'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 {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   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val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=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.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code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.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toString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radix =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2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   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binaryReps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[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] =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}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for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letter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,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in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binaryReps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 {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    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println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"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7A6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$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letter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=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7A6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$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"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}</a:t>
            </a:r>
          </a:p>
          <a:p>
            <a:pPr>
              <a:buNone/>
            </a:pP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(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pair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binaryReps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 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("${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pair.key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= ${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pair.value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}")        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}*/</a:t>
            </a:r>
            <a:br>
              <a:rPr kumimoji="0" lang="en-US" altLang="ko-KR" sz="16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36B1-1243-1A05-5ED0-CDE59D850F0D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map</a:t>
            </a: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8254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C0D5-7A97-0702-7028-D8283197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C0324-6A83-A98B-6324-8E267FE8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F3634E-9B87-8075-CBD2-9393F43D4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43575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맵에</a:t>
            </a:r>
            <a:r>
              <a:rPr lang="ko-KR" altLang="en-US" sz="3200" b="1" dirty="0">
                <a:latin typeface="+mn-ea"/>
              </a:rPr>
              <a:t> 대한 </a:t>
            </a:r>
            <a:r>
              <a:rPr lang="ko-KR" altLang="en-US" sz="3200" b="1" dirty="0" err="1">
                <a:latin typeface="+mn-ea"/>
              </a:rPr>
              <a:t>이터레이션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for</a:t>
            </a:r>
            <a:r>
              <a:rPr lang="ko-KR" altLang="en-US" sz="2400" b="1" dirty="0">
                <a:solidFill>
                  <a:srgbClr val="FF5722"/>
                </a:solidFill>
              </a:rPr>
              <a:t>문과 </a:t>
            </a:r>
            <a:r>
              <a:rPr lang="en-US" altLang="ko-KR" sz="2400" b="1" dirty="0">
                <a:solidFill>
                  <a:srgbClr val="FF5722"/>
                </a:solidFill>
              </a:rPr>
              <a:t>in</a:t>
            </a:r>
            <a:r>
              <a:rPr lang="ko-KR" altLang="en-US" sz="2400" b="1" dirty="0">
                <a:solidFill>
                  <a:srgbClr val="FF5722"/>
                </a:solidFill>
              </a:rPr>
              <a:t>을 통해 </a:t>
            </a:r>
            <a:r>
              <a:rPr lang="en-US" altLang="ko-KR" sz="2400" b="1" dirty="0">
                <a:solidFill>
                  <a:srgbClr val="FF5722"/>
                </a:solidFill>
              </a:rPr>
              <a:t>Key -</a:t>
            </a:r>
            <a:r>
              <a:rPr lang="ko-KR" altLang="en-US" sz="2400" b="1" dirty="0">
                <a:solidFill>
                  <a:srgbClr val="FF5722"/>
                </a:solidFill>
              </a:rPr>
              <a:t> </a:t>
            </a:r>
            <a:r>
              <a:rPr lang="en-US" altLang="ko-KR" sz="2400" b="1" dirty="0">
                <a:solidFill>
                  <a:srgbClr val="FF5722"/>
                </a:solidFill>
              </a:rPr>
              <a:t>Value</a:t>
            </a:r>
            <a:r>
              <a:rPr lang="ko-KR" altLang="en-US" sz="2400" b="1" dirty="0">
                <a:solidFill>
                  <a:srgbClr val="FF5722"/>
                </a:solidFill>
              </a:rPr>
              <a:t> 쌍으로 변수들을 초기화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키와 값을 </a:t>
            </a:r>
            <a:r>
              <a:rPr lang="en-US" altLang="ko-KR" sz="2400" dirty="0">
                <a:solidFill>
                  <a:srgbClr val="000000"/>
                </a:solidFill>
              </a:rPr>
              <a:t>2</a:t>
            </a:r>
            <a:r>
              <a:rPr lang="ko-KR" altLang="en-US" sz="2400" dirty="0">
                <a:solidFill>
                  <a:srgbClr val="000000"/>
                </a:solidFill>
              </a:rPr>
              <a:t>개의 변수에 받거나</a:t>
            </a:r>
            <a:r>
              <a:rPr lang="en-US" altLang="ko-KR" sz="2400" dirty="0">
                <a:solidFill>
                  <a:srgbClr val="000000"/>
                </a:solidFill>
              </a:rPr>
              <a:t>, Pair </a:t>
            </a:r>
            <a:r>
              <a:rPr lang="ko-KR" altLang="en-US" sz="2400" dirty="0">
                <a:solidFill>
                  <a:srgbClr val="000000"/>
                </a:solidFill>
              </a:rPr>
              <a:t>형식의 하나의 변수로 받을 수 있음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C773A3F-FE30-2D1A-F755-7A13F1021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E3811D-5ADA-14B7-E328-6B97C0CF102C}"/>
              </a:ext>
            </a:extLst>
          </p:cNvPr>
          <p:cNvSpPr txBox="1"/>
          <p:nvPr/>
        </p:nvSpPr>
        <p:spPr>
          <a:xfrm>
            <a:off x="6734174" y="1659285"/>
            <a:ext cx="54578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fun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main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() {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val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binaryReps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= 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mutableMapOf</a:t>
            </a:r>
            <a:r>
              <a:rPr kumimoji="0" lang="en-US" altLang="ko-KR" sz="1600" b="0" i="1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&lt;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,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String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&gt;()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for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in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'A'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..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'F'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 {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   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val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=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.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code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.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toString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radix =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2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   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binaryReps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[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char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] =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}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for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letter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,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in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binaryReps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 {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    </a:t>
            </a:r>
            <a:r>
              <a:rPr kumimoji="0" lang="en-US" altLang="ko-K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println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"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7A6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$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letter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=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37A6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$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binary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"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)</a:t>
            </a: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}</a:t>
            </a:r>
          </a:p>
          <a:p>
            <a:pPr>
              <a:buNone/>
            </a:pPr>
            <a:b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(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pair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binaryReps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 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("${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pair.key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= ${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pair.value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}")        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}*/</a:t>
            </a:r>
            <a:br>
              <a:rPr kumimoji="0" lang="en-US" altLang="ko-KR" sz="16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D2Coding ligature" panose="020B0609020101020101" pitchFamily="49" charset="-127"/>
                <a:ea typeface="D2Coding ligature" panose="020B0609020101020101" pitchFamily="49" charset="-127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108C3-FA9B-6BD3-2DC9-3745992F1313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map</a:t>
            </a: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11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A024-1BC6-7FDF-63A6-1D66D332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E0FF2-1B04-8A95-9CF2-41FAB18C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과 </a:t>
            </a:r>
            <a:r>
              <a:rPr lang="en-US" altLang="ko-KR" dirty="0"/>
              <a:t>for </a:t>
            </a:r>
            <a:r>
              <a:rPr lang="ko-KR" altLang="en-US" dirty="0"/>
              <a:t>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E81ACF-8082-57EB-B202-EA3DFCD4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33974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in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어떤 값이 범위에 속하는지 검사하는 연산자</a:t>
            </a:r>
            <a:r>
              <a:rPr lang="en-US" altLang="ko-KR" sz="2400" b="1" dirty="0">
                <a:solidFill>
                  <a:srgbClr val="FF5722"/>
                </a:solidFill>
              </a:rPr>
              <a:t>. Boolean</a:t>
            </a:r>
            <a:r>
              <a:rPr lang="ko-KR" altLang="en-US" sz="2400" b="1" dirty="0">
                <a:solidFill>
                  <a:srgbClr val="FF5722"/>
                </a:solidFill>
              </a:rPr>
              <a:t>을 반환하는 식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!in</a:t>
            </a:r>
            <a:r>
              <a:rPr lang="ko-KR" altLang="en-US" sz="2400" dirty="0">
                <a:solidFill>
                  <a:srgbClr val="000000"/>
                </a:solidFill>
              </a:rPr>
              <a:t>을 통해 포함되지 않음도 검사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9E4EC50D-F14D-6664-83B6-F343A08E2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33823-8E1B-BE41-50B5-AD2D3BE9E531}"/>
              </a:ext>
            </a:extLst>
          </p:cNvPr>
          <p:cNvSpPr txBox="1"/>
          <p:nvPr/>
        </p:nvSpPr>
        <p:spPr>
          <a:xfrm>
            <a:off x="6724649" y="1043732"/>
            <a:ext cx="513397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isLetter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Char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</a:t>
            </a:r>
            <a:r>
              <a:rPr lang="en-US" altLang="ko-KR" sz="1600" dirty="0" err="1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a'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</a:t>
            </a:r>
            <a:r>
              <a:rPr lang="en-US" altLang="ko-KR" sz="1600" dirty="0" err="1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'z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||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'A'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'Z'</a:t>
            </a:r>
            <a:b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isNotDigit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Char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!in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'0'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'9'</a:t>
            </a:r>
            <a:b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recognize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Char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when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'0'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'9'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"It's a digit!"</a:t>
            </a:r>
            <a:b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</a:t>
            </a:r>
            <a:r>
              <a:rPr lang="en-US" altLang="ko-KR" sz="1600" dirty="0" err="1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a'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</a:t>
            </a:r>
            <a:r>
              <a:rPr lang="en-US" altLang="ko-KR" sz="1600" dirty="0" err="1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'z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'A'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'Z'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It,s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a letter!"</a:t>
            </a:r>
            <a:b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"I don't know..."</a:t>
            </a:r>
            <a:b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isLetter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'q'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true</a:t>
            </a:r>
            <a:b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isNotDigit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'x'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true</a:t>
            </a:r>
            <a:b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recognize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'8'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It's a digit!</a:t>
            </a:r>
            <a:br>
              <a:rPr lang="en-US" altLang="ko-KR" sz="16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F0588-088C-BAE0-56CA-68B2D628C76C}"/>
              </a:ext>
            </a:extLst>
          </p:cNvPr>
          <p:cNvSpPr txBox="1"/>
          <p:nvPr/>
        </p:nvSpPr>
        <p:spPr>
          <a:xfrm>
            <a:off x="8953500" y="6364843"/>
            <a:ext cx="305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1800" dirty="0" err="1">
                <a:solidFill>
                  <a:schemeClr val="bg1">
                    <a:lumMod val="50000"/>
                  </a:schemeClr>
                </a:solidFill>
                <a:effectLst/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in.kt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6878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3FF1-1468-2C8B-5502-C36F33C3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4B2F6-F743-E75A-EFFF-E1A24F36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8F160-D92F-4AE6-A5CD-9949A307B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try-catch-finally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 err="1">
                <a:solidFill>
                  <a:srgbClr val="FF5722"/>
                </a:solidFill>
              </a:rPr>
              <a:t>코틀린에서</a:t>
            </a:r>
            <a:r>
              <a:rPr lang="ko-KR" altLang="en-US" sz="2400" b="1" dirty="0">
                <a:solidFill>
                  <a:srgbClr val="FF5722"/>
                </a:solidFill>
              </a:rPr>
              <a:t> </a:t>
            </a:r>
            <a:r>
              <a:rPr lang="en-US" altLang="ko-KR" sz="2400" b="1" dirty="0">
                <a:solidFill>
                  <a:srgbClr val="FF5722"/>
                </a:solidFill>
              </a:rPr>
              <a:t>try</a:t>
            </a:r>
            <a:r>
              <a:rPr lang="ko-KR" altLang="en-US" sz="2400" b="1" dirty="0">
                <a:solidFill>
                  <a:srgbClr val="FF5722"/>
                </a:solidFill>
              </a:rPr>
              <a:t>는 문</a:t>
            </a:r>
            <a:r>
              <a:rPr lang="en-US" altLang="ko-KR" sz="2400" b="1" dirty="0">
                <a:solidFill>
                  <a:srgbClr val="FF5722"/>
                </a:solidFill>
              </a:rPr>
              <a:t>(statement)</a:t>
            </a:r>
            <a:r>
              <a:rPr lang="ko-KR" altLang="en-US" sz="2400" b="1" dirty="0">
                <a:solidFill>
                  <a:srgbClr val="FF5722"/>
                </a:solidFill>
              </a:rPr>
              <a:t>이 아니라 식</a:t>
            </a:r>
            <a:r>
              <a:rPr lang="en-US" altLang="ko-KR" sz="2400" b="1" dirty="0">
                <a:solidFill>
                  <a:srgbClr val="FF5722"/>
                </a:solidFill>
              </a:rPr>
              <a:t>(expression).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D8F4925E-EF66-947D-4A46-163F65BAA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CEF42-29EE-7A36-F2A0-E91C0C18227C}"/>
              </a:ext>
            </a:extLst>
          </p:cNvPr>
          <p:cNvSpPr txBox="1"/>
          <p:nvPr/>
        </p:nvSpPr>
        <p:spPr>
          <a:xfrm>
            <a:off x="6686549" y="428179"/>
            <a:ext cx="52197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"try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블록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결과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예외 발생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message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"finally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실행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항상 실행됨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"try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블록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b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예외 발생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message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-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"finally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실행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항상 실행됨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9366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02CC-B4F3-DF2A-2A1E-8F340C66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5CDD8-6160-8FEA-C00C-1D5DDA57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E75B7-FB72-3251-00EE-791BAA618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try-catch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try-catch </a:t>
            </a:r>
            <a:r>
              <a:rPr lang="ko-KR" altLang="en-US" sz="2400" dirty="0"/>
              <a:t>구문을 컴파일러는 </a:t>
            </a:r>
            <a:r>
              <a:rPr lang="en-US" altLang="ko-KR" sz="2400" dirty="0"/>
              <a:t>exception table</a:t>
            </a:r>
            <a:r>
              <a:rPr lang="ko-KR" altLang="en-US" sz="2400" dirty="0"/>
              <a:t>로 생성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예외를 만났을 때 </a:t>
            </a:r>
            <a:r>
              <a:rPr lang="en-US" altLang="ko-KR" sz="2400" dirty="0"/>
              <a:t>JVM</a:t>
            </a:r>
            <a:r>
              <a:rPr lang="ko-KR" altLang="en-US" sz="2400" dirty="0"/>
              <a:t>이 어디로 보내는지 결정하는 과정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잡지 못한 예외는 외부로 전파</a:t>
            </a:r>
            <a:r>
              <a:rPr lang="en-US" altLang="ko-KR" sz="2400" dirty="0"/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A25165B-C5DE-0644-C246-6FD91A604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AF27A-5DF1-B680-1CD3-490C45FEE304}"/>
              </a:ext>
            </a:extLst>
          </p:cNvPr>
          <p:cNvSpPr txBox="1"/>
          <p:nvPr/>
        </p:nvSpPr>
        <p:spPr>
          <a:xfrm>
            <a:off x="6686549" y="428179"/>
            <a:ext cx="52197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"try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블록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결과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예외 발생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message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"finally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실행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항상 실행됨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"try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블록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b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예외 발생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message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-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"finally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실행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항상 실행됨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7776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82D7-6DE3-DD7F-7C66-8FE0EC8D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36FB3-A79F-0935-93C7-3E02A278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D7B802-5796-526C-B48D-81E8530E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finally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try – catch </a:t>
            </a:r>
            <a:r>
              <a:rPr lang="ko-KR" altLang="en-US" sz="2400" dirty="0"/>
              <a:t>구문의 종료 직전</a:t>
            </a:r>
            <a:r>
              <a:rPr lang="en-US" altLang="ko-KR" sz="2400" dirty="0"/>
              <a:t> </a:t>
            </a:r>
            <a:r>
              <a:rPr lang="ko-KR" altLang="en-US" sz="2400" dirty="0"/>
              <a:t>혹은 예외 전파 직전에 실행하는 코드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컴퓨터가 </a:t>
            </a:r>
            <a:r>
              <a:rPr lang="ko-KR" altLang="en-US" sz="2400" dirty="0" err="1"/>
              <a:t>고장났거나</a:t>
            </a:r>
            <a:r>
              <a:rPr lang="ko-KR" altLang="en-US" sz="2400" dirty="0"/>
              <a:t> </a:t>
            </a:r>
            <a:r>
              <a:rPr lang="en-US" altLang="ko-KR" sz="2400" dirty="0"/>
              <a:t>JVM</a:t>
            </a:r>
            <a:r>
              <a:rPr lang="ko-KR" altLang="en-US" sz="2400" dirty="0"/>
              <a:t>이 꺼지는 수준이 아니면 무조건 실행됨</a:t>
            </a:r>
            <a:r>
              <a:rPr lang="en-US" altLang="ko-KR" sz="2400"/>
              <a:t>.</a:t>
            </a:r>
            <a:endParaRPr lang="en-US" altLang="ko-KR" sz="2400" dirty="0"/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8AD7B356-3D7B-09ED-3D08-DFDCB14B8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4CC7F-7AC5-D929-5729-CD347CABB531}"/>
              </a:ext>
            </a:extLst>
          </p:cNvPr>
          <p:cNvSpPr txBox="1"/>
          <p:nvPr/>
        </p:nvSpPr>
        <p:spPr>
          <a:xfrm>
            <a:off x="6686549" y="428179"/>
            <a:ext cx="52197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"try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블록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결과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예외 발생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message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"finally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실행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항상 실행됨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"try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블록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 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b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예외 발생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message</a:t>
            </a:r>
            <a:r>
              <a:rPr lang="en-US" altLang="ko-KR" sz="16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-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b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"finally 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실행 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항상 실행됨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8370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5FCD35-68A9-8D8D-4B54-BD830224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유지민민">
      <a:majorFont>
        <a:latin typeface="나눔스퀘어라운드OTF Regular"/>
        <a:ea typeface="나눔스퀘어라운드OTF Regular"/>
        <a:cs typeface=""/>
      </a:majorFont>
      <a:minorFont>
        <a:latin typeface="나눔스퀘어라운드OTF Regular"/>
        <a:ea typeface="나눔스퀘어라운드OTF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3055</TotalTime>
  <Words>3157</Words>
  <Application>Microsoft Office PowerPoint</Application>
  <PresentationFormat>와이드스크린</PresentationFormat>
  <Paragraphs>214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1" baseType="lpstr">
      <vt:lpstr>D2Coding ligature</vt:lpstr>
      <vt:lpstr>나눔스퀘어라운드OTF Light</vt:lpstr>
      <vt:lpstr>나눔스퀘어라운드OTF Regular</vt:lpstr>
      <vt:lpstr>맑은 고딕</vt:lpstr>
      <vt:lpstr>Arial</vt:lpstr>
      <vt:lpstr>Courier New</vt:lpstr>
      <vt:lpstr>Wingdings</vt:lpstr>
      <vt:lpstr>Office 테마</vt:lpstr>
      <vt:lpstr>Kotlin 기초</vt:lpstr>
      <vt:lpstr>목차</vt:lpstr>
      <vt:lpstr>함수와 변수</vt:lpstr>
      <vt:lpstr>함수와 변수</vt:lpstr>
      <vt:lpstr>함수와 변수</vt:lpstr>
      <vt:lpstr>함수와 변수</vt:lpstr>
      <vt:lpstr>함수와 변수</vt:lpstr>
      <vt:lpstr>함수와 변수</vt:lpstr>
      <vt:lpstr>함수와 변수</vt:lpstr>
      <vt:lpstr>함수와 변수</vt:lpstr>
      <vt:lpstr>함수와 변수</vt:lpstr>
      <vt:lpstr>클래스와 프로퍼티</vt:lpstr>
      <vt:lpstr>클래스와 프로퍼티</vt:lpstr>
      <vt:lpstr>클래스와 프로퍼티</vt:lpstr>
      <vt:lpstr>이넘과 when</vt:lpstr>
      <vt:lpstr>이넘과 when</vt:lpstr>
      <vt:lpstr>이넘과 when</vt:lpstr>
      <vt:lpstr>이넘과 when</vt:lpstr>
      <vt:lpstr>이넘과 when</vt:lpstr>
      <vt:lpstr>이넘과 when</vt:lpstr>
      <vt:lpstr>이넘과 when</vt:lpstr>
      <vt:lpstr>while과 for 루프</vt:lpstr>
      <vt:lpstr>while과 for 루프</vt:lpstr>
      <vt:lpstr>while과 for 루프</vt:lpstr>
      <vt:lpstr>while과 for 루프</vt:lpstr>
      <vt:lpstr>while과 for 루프</vt:lpstr>
      <vt:lpstr>while과 for 루프</vt:lpstr>
      <vt:lpstr>while과 for 루프</vt:lpstr>
      <vt:lpstr>while과 for 루프</vt:lpstr>
      <vt:lpstr>예외 처리</vt:lpstr>
      <vt:lpstr>예외 처리</vt:lpstr>
      <vt:lpstr>예외 처리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mr.gllom mr.gllom</dc:creator>
  <cp:lastModifiedBy>mr.gllom mr.gllom</cp:lastModifiedBy>
  <cp:revision>9</cp:revision>
  <dcterms:created xsi:type="dcterms:W3CDTF">2025-09-20T06:33:18Z</dcterms:created>
  <dcterms:modified xsi:type="dcterms:W3CDTF">2026-07-01T19:29:23Z</dcterms:modified>
</cp:coreProperties>
</file>