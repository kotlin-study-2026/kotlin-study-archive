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73" r:id="rId3"/>
    <p:sldId id="260" r:id="rId4"/>
    <p:sldId id="294" r:id="rId5"/>
    <p:sldId id="296" r:id="rId6"/>
    <p:sldId id="295" r:id="rId7"/>
    <p:sldId id="291" r:id="rId8"/>
    <p:sldId id="293" r:id="rId9"/>
    <p:sldId id="298" r:id="rId10"/>
    <p:sldId id="297" r:id="rId11"/>
    <p:sldId id="292" r:id="rId12"/>
    <p:sldId id="299" r:id="rId13"/>
    <p:sldId id="300" r:id="rId14"/>
    <p:sldId id="301" r:id="rId15"/>
    <p:sldId id="272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FF5722"/>
    <a:srgbClr val="212121"/>
    <a:srgbClr val="FFFFFF"/>
    <a:srgbClr val="009688"/>
    <a:srgbClr val="FAFAFA"/>
    <a:srgbClr val="FAF0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435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29CB68-1941-4906-AC12-2D09C79E6FC6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7B2A7E-D471-4CC7-B736-F0E750F51E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96400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7B2A7E-D471-4CC7-B736-F0E750F51E31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352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D81BFE-472C-AF23-2029-6DA324332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628A33E-F5DB-1036-E8B3-FBA04DC266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F669E3-12AA-7AF5-48FA-4CAA4BD58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CA5F7C-F264-FAC4-9A35-C56F51A5A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8662AA-7A3C-E3B2-BAEE-996F22F58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4594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8BD7BB-911F-8F0F-E065-FE7BF9E6C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4F1CBB-4913-5D20-F798-54DE4F08CC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06D1A2-531B-B859-4600-7D3BA314A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825EC8-DDBA-7DD5-F2B7-94094B227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04AABF-27AB-171E-7736-558F5285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94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09C6FB-E474-602B-0BAD-E2259AEEB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DBCF1C-1C77-DC9F-BE47-47F785136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E2F0D1-C861-6850-4681-94E0991CD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004389-A881-D74E-67D0-507332F37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131549-9AD6-A055-8DC7-49259C03C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507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8A9677-7067-AE43-E6EA-7121223CA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A5E21F-B711-3725-D9E6-7B624C82E4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32B3174-BBA9-D1C1-68BE-AA39626C1F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988F8A-BCCA-EA9B-3F2D-3CE189C6C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7647FE-A50D-3A6B-A5B8-1746E58FB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D4B680-A5CA-2369-C868-29E4DA468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874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1A26D9-81FB-28A2-A189-19D866CBE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0409CF-46E2-8692-1DDD-BD6F094132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C93492-A078-58FE-F431-8A6B16453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D425CF4-E490-B087-799B-A284A5E292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0F05079-0B1D-2A08-4B5A-7A47563FAD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14CB6D9-4B94-78AD-DA57-2E708DE99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FAFAB1D-B6D7-722E-9B89-2C9AAF48A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F0175EC-D192-9F74-E1D9-9794ECC74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735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4150F0-F0B5-1431-EC65-E7735A97A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6056517-8D1C-E941-0F28-1C8683D64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5FB620-8763-F137-95F8-0717A78A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6756677-C408-1CB4-480E-2007C105A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4774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712225-B2B1-AC3A-7302-BC54A934E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5C7CB12-69E1-E183-B317-9AFF1D361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3D257A-3B96-13BA-67CA-D0CB6206D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442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C8F4DC-3405-3AAD-71BE-C4A1B45E3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8DE67E-4BA6-A7C5-CB7D-CAC6AF1297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096027B-319E-E8FA-5654-775F932AA7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2F7B85-1CD8-B7BA-D246-D0B249A38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2CE49D-CA29-23D9-0641-F90D5891F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E28064-4997-6872-3172-D1D00B045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8176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0BE001-34F2-E5D4-7617-77DBB8BC4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0399026-4B53-0032-A905-E344171D6D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8A3BD4-F81A-FCAB-5C0F-56AA1BC29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7919C95-B508-4B2A-D648-A2371BF2E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6C060E1-303A-06C8-180B-D8DFB19C3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92A05B-7B6E-4F4C-854A-0A4AE47FB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754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C9EBF8-80C9-8E0A-3B5C-C30D33480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AC09593-F2B7-0A77-1276-CBDEB926B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CA3DC8-A418-7F10-9B10-6B287200E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064125-E8C9-D375-C409-EC4ABC976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EB8F2B-6883-D688-2939-86C45E1C2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8015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21DA494-40F1-4263-511A-0174C15216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3D612D5-EAED-A3F7-D9B2-7E7D35396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290166-D5B1-7CA7-0990-0BFAB3F18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215A9-734E-4AD3-8910-5EED93001A62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6AC9C1-87DF-962D-74EA-0F47162E0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F12968-7CAA-DF11-CF28-045E73DD1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106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B4D2831-1054-433A-439B-261C3F45D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0958DC-3F4B-88EC-B11C-25ED353B7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E05A6B-E3F9-EDFE-F146-5795CC45C1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9215A9-734E-4AD3-8910-5EED93001A62}" type="datetimeFigureOut">
              <a:rPr lang="ko-KR" altLang="en-US" smtClean="0"/>
              <a:t>2026-04-15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BFB9AA-ACE8-6B52-2FB0-DFC715A82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EF4FB8-5A01-566E-6DB0-67E074FB7F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FE5494-0049-4702-86A5-918AEBF011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871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rgbClr val="21212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1212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1212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1212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1212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B3A9C1-EF8C-0E35-7892-BECDD7D7C8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altLang="ko-KR" dirty="0"/>
              <a:t>Kotlin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E3EEAF6-6ABF-556C-87EA-7710277EAD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22800"/>
            <a:ext cx="9684774" cy="2235200"/>
          </a:xfrm>
        </p:spPr>
        <p:txBody>
          <a:bodyPr anchor="ctr">
            <a:normAutofit/>
          </a:bodyPr>
          <a:lstStyle/>
          <a:p>
            <a:pPr algn="r"/>
            <a:r>
              <a:rPr lang="ko-KR" altLang="en-US" sz="1800" dirty="0"/>
              <a:t>유지민</a:t>
            </a:r>
          </a:p>
        </p:txBody>
      </p:sp>
    </p:spTree>
    <p:extLst>
      <p:ext uri="{BB962C8B-B14F-4D97-AF65-F5344CB8AC3E}">
        <p14:creationId xmlns:p14="http://schemas.microsoft.com/office/powerpoint/2010/main" val="378587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BDAA1-B01A-DC99-5C8E-4EC9D3BD9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1E704D-39F8-2CA4-4D4A-4DDED691D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0399A3-6B37-93DA-2161-4EC1433CD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9569" y="2524201"/>
            <a:ext cx="3852862" cy="2225674"/>
          </a:xfrm>
        </p:spPr>
        <p:txBody>
          <a:bodyPr wrap="square" anchor="ctr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What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When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ko-KR" altLang="en-US" dirty="0" err="1"/>
              <a:t>코틀린</a:t>
            </a:r>
            <a:r>
              <a:rPr lang="ko-KR" altLang="en-US" dirty="0"/>
              <a:t> 맛보기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73298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BEA95-F698-7E59-5317-3BB9BA4A8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DB1897-6D67-761B-405D-EAC7A1B44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What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50C0E5-24F4-E137-690F-A9821BCD5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714877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Kotlin</a:t>
            </a:r>
          </a:p>
          <a:p>
            <a:pPr>
              <a:lnSpc>
                <a:spcPct val="150000"/>
              </a:lnSpc>
            </a:pPr>
            <a:r>
              <a:rPr lang="ko-KR" altLang="en-US" sz="2400" dirty="0" err="1"/>
              <a:t>코틀린의</a:t>
            </a:r>
            <a:r>
              <a:rPr lang="ko-KR" altLang="en-US" sz="2400" dirty="0"/>
              <a:t> 주목적은 </a:t>
            </a:r>
            <a:r>
              <a:rPr lang="en-US" altLang="ko-KR" sz="2400" b="1" dirty="0">
                <a:solidFill>
                  <a:srgbClr val="FF5722"/>
                </a:solidFill>
              </a:rPr>
              <a:t>“</a:t>
            </a:r>
            <a:r>
              <a:rPr lang="ko-KR" altLang="en-US" sz="2400" b="1" dirty="0">
                <a:solidFill>
                  <a:srgbClr val="FF5722"/>
                </a:solidFill>
              </a:rPr>
              <a:t>더 나은 자바</a:t>
            </a:r>
            <a:r>
              <a:rPr lang="en-US" altLang="ko-KR" sz="2400" b="1" dirty="0">
                <a:solidFill>
                  <a:srgbClr val="FF5722"/>
                </a:solidFill>
              </a:rPr>
              <a:t>“.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정적 타입 지정 언어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다중 패러다임 언어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다양한 플랫폼에서 돌아가는 </a:t>
            </a:r>
            <a:r>
              <a:rPr lang="ko-KR" altLang="en-US" sz="2400" b="1" dirty="0">
                <a:solidFill>
                  <a:srgbClr val="FF5722"/>
                </a:solidFill>
              </a:rPr>
              <a:t>멀티 플랫폼 언어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46374923-F320-A8B6-1168-14CBAC020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17BA4102-C20F-9491-2363-D2C83A161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8923" y="985838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2128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76E12-E873-E674-3CA2-BE7177E84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43BA32-40E4-41FF-1D3B-0C20EA6C0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What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B5646F-00AD-619E-5578-0893AB963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00675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>
                <a:latin typeface="+mn-ea"/>
              </a:rPr>
              <a:t>더 나은 자바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rgbClr val="FF5722"/>
                </a:solidFill>
                <a:latin typeface="+mn-ea"/>
              </a:rPr>
              <a:t>현대적언어 설계 패러다임을 포용</a:t>
            </a:r>
            <a:r>
              <a:rPr lang="en-US" altLang="ko-KR" sz="2400" b="1" dirty="0">
                <a:solidFill>
                  <a:srgbClr val="FF5722"/>
                </a:solidFill>
                <a:latin typeface="+mn-ea"/>
              </a:rPr>
              <a:t>.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개발자들이 일반적으로 저지르는 오류</a:t>
            </a:r>
            <a:r>
              <a:rPr lang="en-US" altLang="ko-KR" sz="2400" b="1" dirty="0">
                <a:solidFill>
                  <a:srgbClr val="FF5722"/>
                </a:solidFill>
                <a:latin typeface="+mn-ea"/>
              </a:rPr>
              <a:t>(NPE)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를 방지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자연스러운 </a:t>
            </a:r>
            <a:r>
              <a:rPr lang="ko-KR" altLang="en-US" sz="2400" dirty="0" err="1">
                <a:solidFill>
                  <a:srgbClr val="000000"/>
                </a:solidFill>
                <a:latin typeface="+mn-ea"/>
              </a:rPr>
              <a:t>코루틴</a:t>
            </a:r>
            <a:br>
              <a:rPr lang="en-US" altLang="ko-KR" sz="2400" b="1" dirty="0">
                <a:solidFill>
                  <a:srgbClr val="FF5722"/>
                </a:solidFill>
                <a:latin typeface="+mn-ea"/>
              </a:rPr>
            </a:br>
            <a:endParaRPr lang="en-US" altLang="ko-KR" sz="2400" b="1" dirty="0">
              <a:solidFill>
                <a:srgbClr val="FF5722"/>
              </a:solidFill>
              <a:latin typeface="+mn-ea"/>
            </a:endParaRP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67A67961-1E9C-228E-EC12-4C0D4B024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2" descr="スメハラのイラスト | かわいいフリー素材集 いらすとや">
            <a:extLst>
              <a:ext uri="{FF2B5EF4-FFF2-40B4-BE49-F238E27FC236}">
                <a16:creationId xmlns:a16="http://schemas.microsoft.com/office/drawing/2014/main" id="{F41F0F6F-B530-4A87-6492-AE11C72E5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337" y="1524000"/>
            <a:ext cx="5097976" cy="4390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215;p3">
            <a:extLst>
              <a:ext uri="{FF2B5EF4-FFF2-40B4-BE49-F238E27FC236}">
                <a16:creationId xmlns:a16="http://schemas.microsoft.com/office/drawing/2014/main" id="{CB55EAD3-7C16-6273-3AB7-E9F9C2899864}"/>
              </a:ext>
            </a:extLst>
          </p:cNvPr>
          <p:cNvSpPr txBox="1"/>
          <p:nvPr/>
        </p:nvSpPr>
        <p:spPr>
          <a:xfrm>
            <a:off x="7354692" y="4778492"/>
            <a:ext cx="930667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+mn-ea"/>
                <a:cs typeface="Arial"/>
                <a:sym typeface="Arial"/>
              </a:rPr>
              <a:t>Java</a:t>
            </a:r>
            <a:endParaRPr sz="1400" b="1" i="0" u="none" strike="noStrike" cap="none" dirty="0">
              <a:solidFill>
                <a:srgbClr val="000000"/>
              </a:solidFill>
              <a:latin typeface="+mn-ea"/>
              <a:cs typeface="Arial"/>
              <a:sym typeface="Arial"/>
            </a:endParaRPr>
          </a:p>
        </p:txBody>
      </p:sp>
      <p:sp>
        <p:nvSpPr>
          <p:cNvPr id="8" name="Google Shape;215;p3">
            <a:extLst>
              <a:ext uri="{FF2B5EF4-FFF2-40B4-BE49-F238E27FC236}">
                <a16:creationId xmlns:a16="http://schemas.microsoft.com/office/drawing/2014/main" id="{5312EC8A-8EDA-F899-9F52-641DA1768820}"/>
              </a:ext>
            </a:extLst>
          </p:cNvPr>
          <p:cNvSpPr txBox="1"/>
          <p:nvPr/>
        </p:nvSpPr>
        <p:spPr>
          <a:xfrm>
            <a:off x="9793092" y="4778492"/>
            <a:ext cx="104868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+mn-ea"/>
                <a:cs typeface="Arial"/>
                <a:sym typeface="Arial"/>
              </a:rPr>
              <a:t>Kotlin</a:t>
            </a:r>
            <a:endParaRPr sz="1400" b="1" i="0" u="none" strike="noStrike" cap="none" dirty="0">
              <a:solidFill>
                <a:srgbClr val="000000"/>
              </a:solidFill>
              <a:latin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33932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BE894-C426-0CC6-7FB1-C14B8E726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E4D224-576B-3447-A05F-C2592E498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* NPE (Null Pointer Exception)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067BC0-E57C-F2D1-221B-940401F8D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00675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Null Pointer Exception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FF5722"/>
                </a:solidFill>
                <a:latin typeface="+mn-ea"/>
              </a:rPr>
              <a:t>Null</a:t>
            </a:r>
            <a:r>
              <a:rPr lang="ko-KR" altLang="en-US" sz="2400" b="1" dirty="0">
                <a:solidFill>
                  <a:srgbClr val="FF5722"/>
                </a:solidFill>
                <a:latin typeface="+mn-ea"/>
              </a:rPr>
              <a:t>은 </a:t>
            </a:r>
            <a:r>
              <a:rPr lang="en-US" altLang="ko-KR" sz="2400" b="1" dirty="0">
                <a:solidFill>
                  <a:srgbClr val="FF5722"/>
                </a:solidFill>
                <a:latin typeface="+mn-ea"/>
              </a:rPr>
              <a:t>10</a:t>
            </a:r>
            <a:r>
              <a:rPr lang="ko-KR" altLang="en-US" sz="2400" b="1" dirty="0">
                <a:solidFill>
                  <a:srgbClr val="FF5722"/>
                </a:solidFill>
                <a:latin typeface="+mn-ea"/>
              </a:rPr>
              <a:t>억 달러짜리 실수</a:t>
            </a:r>
            <a:br>
              <a:rPr lang="en-US" altLang="ko-KR" sz="2400" dirty="0">
                <a:solidFill>
                  <a:srgbClr val="000000"/>
                </a:solidFill>
                <a:latin typeface="+mn-ea"/>
              </a:rPr>
            </a:b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- Null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을 최초로 도입한 사람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Kotlin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은 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Null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만을 위한 다양한 연산자 존재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이로 인해 컴파일 단위에서 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Null 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체크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E74F90B8-C1C0-271F-AEF5-42D275CDF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Google Shape;215;p3">
            <a:extLst>
              <a:ext uri="{FF2B5EF4-FFF2-40B4-BE49-F238E27FC236}">
                <a16:creationId xmlns:a16="http://schemas.microsoft.com/office/drawing/2014/main" id="{B087B081-7578-D7B2-3BD8-2F789D6B124A}"/>
              </a:ext>
            </a:extLst>
          </p:cNvPr>
          <p:cNvSpPr txBox="1"/>
          <p:nvPr/>
        </p:nvSpPr>
        <p:spPr>
          <a:xfrm>
            <a:off x="7330183" y="4778492"/>
            <a:ext cx="3494283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1" i="0" u="none" strike="noStrike" cap="none" dirty="0">
                <a:solidFill>
                  <a:srgbClr val="000000"/>
                </a:solidFill>
                <a:latin typeface="+mn-ea"/>
                <a:cs typeface="Arial"/>
                <a:sym typeface="Arial"/>
              </a:rPr>
              <a:t>다른 언어들은 위험하다고 경고에 그치지만</a:t>
            </a:r>
            <a:r>
              <a:rPr lang="en-US" altLang="ko-KR" sz="1400" b="1" i="0" u="none" strike="noStrike" cap="none" dirty="0">
                <a:solidFill>
                  <a:srgbClr val="000000"/>
                </a:solidFill>
                <a:latin typeface="+mn-ea"/>
                <a:cs typeface="Arial"/>
                <a:sym typeface="Arial"/>
              </a:rPr>
              <a:t>, </a:t>
            </a:r>
            <a:r>
              <a:rPr lang="en-US" sz="1400" b="1" i="0" u="none" strike="noStrike" cap="none" dirty="0">
                <a:solidFill>
                  <a:srgbClr val="000000"/>
                </a:solidFill>
                <a:latin typeface="+mn-ea"/>
                <a:cs typeface="Arial"/>
                <a:sym typeface="Arial"/>
              </a:rPr>
              <a:t>Kotlin</a:t>
            </a:r>
            <a:r>
              <a:rPr lang="ko-KR" altLang="en-US" sz="1400" b="1" i="0" u="none" strike="noStrike" cap="none" dirty="0">
                <a:solidFill>
                  <a:srgbClr val="000000"/>
                </a:solidFill>
                <a:latin typeface="+mn-ea"/>
                <a:cs typeface="Arial"/>
                <a:sym typeface="Arial"/>
              </a:rPr>
              <a:t>은 시동도 안 걸림</a:t>
            </a:r>
            <a:r>
              <a:rPr lang="en-US" altLang="ko-KR" sz="1400" b="1" i="0" u="none" strike="noStrike" cap="none" dirty="0">
                <a:solidFill>
                  <a:srgbClr val="000000"/>
                </a:solidFill>
                <a:latin typeface="+mn-ea"/>
                <a:cs typeface="Arial"/>
                <a:sym typeface="Arial"/>
              </a:rPr>
              <a:t>.</a:t>
            </a:r>
            <a:endParaRPr sz="1400" b="1" i="0" u="none" strike="noStrike" cap="none" dirty="0">
              <a:solidFill>
                <a:srgbClr val="000000"/>
              </a:solidFill>
              <a:latin typeface="+mn-ea"/>
              <a:cs typeface="Arial"/>
              <a:sym typeface="Arial"/>
            </a:endParaRPr>
          </a:p>
        </p:txBody>
      </p:sp>
      <p:pic>
        <p:nvPicPr>
          <p:cNvPr id="3076" name="Picture 4" descr="シートベルトのイラスト | かわいいフリー素材集 いらすとや">
            <a:extLst>
              <a:ext uri="{FF2B5EF4-FFF2-40B4-BE49-F238E27FC236}">
                <a16:creationId xmlns:a16="http://schemas.microsoft.com/office/drawing/2014/main" id="{9E6DC839-2CE4-9AE4-64D0-A5BB16296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2925" y="2176462"/>
            <a:ext cx="1828800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6632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6675C-E276-9A54-E1D1-5CDB7A5B0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781027-B133-460C-C6CC-7D44BD7F0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* </a:t>
            </a:r>
            <a:r>
              <a:rPr lang="ko-KR" altLang="en-US" dirty="0"/>
              <a:t>컴파일 </a:t>
            </a:r>
            <a:r>
              <a:rPr lang="en-US" altLang="ko-KR" dirty="0"/>
              <a:t>&amp; </a:t>
            </a:r>
            <a:r>
              <a:rPr lang="ko-KR" altLang="en-US" dirty="0"/>
              <a:t>런타임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EC45FE-55A6-37FA-435F-8F05D8D44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97976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>
                <a:latin typeface="+mn-ea"/>
              </a:rPr>
              <a:t>컴파일 </a:t>
            </a:r>
            <a:r>
              <a:rPr lang="en-US" altLang="ko-KR" sz="3200" b="1" dirty="0">
                <a:latin typeface="+mn-ea"/>
              </a:rPr>
              <a:t>&amp; </a:t>
            </a:r>
            <a:r>
              <a:rPr lang="ko-KR" altLang="en-US" sz="3200" b="1" dirty="0">
                <a:latin typeface="+mn-ea"/>
              </a:rPr>
              <a:t>런타임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컴파일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2400" dirty="0"/>
              <a:t>코드를 실행 가능하게 만드는 중간 </a:t>
            </a:r>
            <a:r>
              <a:rPr lang="ko-KR" altLang="en-US" sz="2400" b="1" dirty="0">
                <a:solidFill>
                  <a:srgbClr val="FF5722"/>
                </a:solidFill>
              </a:rPr>
              <a:t>번역 과정</a:t>
            </a:r>
            <a:r>
              <a:rPr lang="en-US" altLang="ko-KR" sz="2400" b="1" dirty="0">
                <a:solidFill>
                  <a:srgbClr val="FF5722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런타임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2400" dirty="0"/>
              <a:t>프로그램이 </a:t>
            </a:r>
            <a:r>
              <a:rPr lang="ko-KR" altLang="en-US" sz="2400" b="1" dirty="0">
                <a:solidFill>
                  <a:srgbClr val="FF5722"/>
                </a:solidFill>
              </a:rPr>
              <a:t>실제로 실행되고 있는 상태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  <a:endParaRPr lang="en-US" altLang="ko-KR" sz="2400" b="1" dirty="0">
              <a:solidFill>
                <a:srgbClr val="FF5722"/>
              </a:solidFill>
              <a:latin typeface="+mn-ea"/>
            </a:endParaRP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1F28CDDD-C412-F4F2-909D-12B74BA81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C4E9D97D-29F9-DEC2-2C02-1FB145B63879}"/>
              </a:ext>
            </a:extLst>
          </p:cNvPr>
          <p:cNvGrpSpPr/>
          <p:nvPr/>
        </p:nvGrpSpPr>
        <p:grpSpPr>
          <a:xfrm>
            <a:off x="6738512" y="2623941"/>
            <a:ext cx="4677627" cy="2190750"/>
            <a:chOff x="6528338" y="2623941"/>
            <a:chExt cx="4677627" cy="2190750"/>
          </a:xfrm>
        </p:grpSpPr>
        <p:pic>
          <p:nvPicPr>
            <p:cNvPr id="2052" name="Picture 4" descr="鳶職のイラスト（女性） | かわいいフリー素材集 いらすとや">
              <a:extLst>
                <a:ext uri="{FF2B5EF4-FFF2-40B4-BE49-F238E27FC236}">
                  <a16:creationId xmlns:a16="http://schemas.microsoft.com/office/drawing/2014/main" id="{FCF243A4-6336-54A5-9C17-584FDFD6E29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28338" y="2623941"/>
              <a:ext cx="2085975" cy="21907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6" name="Picture 8" descr="工場の検索結果 | かわいいフリー素材集 いらすとや">
              <a:extLst>
                <a:ext uri="{FF2B5EF4-FFF2-40B4-BE49-F238E27FC236}">
                  <a16:creationId xmlns:a16="http://schemas.microsoft.com/office/drawing/2014/main" id="{F2FBB4E3-C92F-DCD0-CEF6-D0684725B0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15424" y="2674046"/>
              <a:ext cx="2090541" cy="20905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5" name="Google Shape;215;p3">
            <a:extLst>
              <a:ext uri="{FF2B5EF4-FFF2-40B4-BE49-F238E27FC236}">
                <a16:creationId xmlns:a16="http://schemas.microsoft.com/office/drawing/2014/main" id="{4DA07844-EA79-459D-C8F1-D5487AFEA305}"/>
              </a:ext>
            </a:extLst>
          </p:cNvPr>
          <p:cNvSpPr txBox="1"/>
          <p:nvPr/>
        </p:nvSpPr>
        <p:spPr>
          <a:xfrm>
            <a:off x="7354692" y="4778492"/>
            <a:ext cx="930667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 dirty="0">
                <a:solidFill>
                  <a:srgbClr val="000000"/>
                </a:solidFill>
                <a:latin typeface="+mn-ea"/>
                <a:cs typeface="Arial"/>
                <a:sym typeface="Arial"/>
              </a:rPr>
              <a:t>Compile</a:t>
            </a:r>
            <a:endParaRPr sz="1400" b="1" i="0" u="none" strike="noStrike" cap="none" dirty="0">
              <a:solidFill>
                <a:srgbClr val="000000"/>
              </a:solidFill>
              <a:latin typeface="+mn-ea"/>
              <a:cs typeface="Arial"/>
              <a:sym typeface="Arial"/>
            </a:endParaRPr>
          </a:p>
        </p:txBody>
      </p:sp>
      <p:sp>
        <p:nvSpPr>
          <p:cNvPr id="6" name="Google Shape;215;p3">
            <a:extLst>
              <a:ext uri="{FF2B5EF4-FFF2-40B4-BE49-F238E27FC236}">
                <a16:creationId xmlns:a16="http://schemas.microsoft.com/office/drawing/2014/main" id="{B8665353-C69E-2617-EF81-CC6FBF32CEDD}"/>
              </a:ext>
            </a:extLst>
          </p:cNvPr>
          <p:cNvSpPr txBox="1"/>
          <p:nvPr/>
        </p:nvSpPr>
        <p:spPr>
          <a:xfrm>
            <a:off x="9793092" y="4778492"/>
            <a:ext cx="104868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+mn-ea"/>
                <a:cs typeface="Arial"/>
                <a:sym typeface="Arial"/>
              </a:rPr>
              <a:t>Runtime</a:t>
            </a:r>
            <a:endParaRPr sz="1400" b="1" i="0" u="none" strike="noStrike" cap="none" dirty="0">
              <a:solidFill>
                <a:srgbClr val="000000"/>
              </a:solidFill>
              <a:latin typeface="+mn-ea"/>
              <a:cs typeface="Arial"/>
              <a:sym typeface="Arial"/>
            </a:endParaRPr>
          </a:p>
        </p:txBody>
      </p:sp>
      <p:sp>
        <p:nvSpPr>
          <p:cNvPr id="7" name="Google Shape;215;p3">
            <a:extLst>
              <a:ext uri="{FF2B5EF4-FFF2-40B4-BE49-F238E27FC236}">
                <a16:creationId xmlns:a16="http://schemas.microsoft.com/office/drawing/2014/main" id="{C4BC3BAC-1DAE-C763-B837-1302ADFC3FB4}"/>
              </a:ext>
            </a:extLst>
          </p:cNvPr>
          <p:cNvSpPr txBox="1"/>
          <p:nvPr/>
        </p:nvSpPr>
        <p:spPr>
          <a:xfrm>
            <a:off x="8550703" y="3565448"/>
            <a:ext cx="10486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00"/>
                </a:solidFill>
                <a:latin typeface="+mn-ea"/>
                <a:cs typeface="Arial"/>
                <a:sym typeface="Arial"/>
              </a:rPr>
              <a:t>-&gt;</a:t>
            </a:r>
            <a:endParaRPr sz="2400" b="1" i="0" u="none" strike="noStrike" cap="none" dirty="0">
              <a:solidFill>
                <a:srgbClr val="000000"/>
              </a:solidFill>
              <a:latin typeface="+mn-ea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2298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0D23D-F004-D413-0D27-7C92E75EC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3F35EF-4227-EA30-4C21-D94EB65BB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What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B43BF8-6B37-F3CA-6B4F-489882373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00675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>
                <a:latin typeface="+mn-ea"/>
              </a:rPr>
              <a:t>정적 타입 지정 언어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rgbClr val="FF5722"/>
                </a:solidFill>
                <a:latin typeface="+mn-ea"/>
              </a:rPr>
              <a:t>컴파일 시점에</a:t>
            </a:r>
            <a:r>
              <a:rPr lang="en-US" altLang="ko-KR" sz="2400" b="1" dirty="0">
                <a:solidFill>
                  <a:srgbClr val="FF5722"/>
                </a:solidFill>
                <a:latin typeface="+mn-ea"/>
              </a:rPr>
              <a:t> </a:t>
            </a:r>
            <a:r>
              <a:rPr lang="ko-KR" altLang="en-US" sz="2400" b="1" dirty="0">
                <a:solidFill>
                  <a:srgbClr val="FF5722"/>
                </a:solidFill>
                <a:latin typeface="+mn-ea"/>
              </a:rPr>
              <a:t>변수의 타입이 결정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되고 검사되는 언어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동적 타입 언어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: Python, </a:t>
            </a:r>
            <a:r>
              <a:rPr lang="en-US" altLang="ko-KR" sz="2400" dirty="0" err="1">
                <a:solidFill>
                  <a:srgbClr val="000000"/>
                </a:solidFill>
                <a:latin typeface="+mn-ea"/>
              </a:rPr>
              <a:t>Javascript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동작이 정해져 동적 타입에 비해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런타임에선 성능과 안정성 확보</a:t>
            </a:r>
            <a:endParaRPr lang="en-US" altLang="ko-KR" sz="2400" dirty="0">
              <a:solidFill>
                <a:srgbClr val="FF5722"/>
              </a:solidFill>
              <a:latin typeface="+mn-ea"/>
            </a:endParaRP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254B5BCA-A4CC-A593-7A37-F4A1E27E8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142FB9-DA2A-5023-EDD8-7C70CF8346F8}"/>
              </a:ext>
            </a:extLst>
          </p:cNvPr>
          <p:cNvSpPr txBox="1"/>
          <p:nvPr/>
        </p:nvSpPr>
        <p:spPr>
          <a:xfrm>
            <a:off x="6528338" y="3119152"/>
            <a:ext cx="50979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24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var 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x</a:t>
            </a:r>
            <a:r>
              <a:rPr lang="en-US" altLang="ko-KR" sz="2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: </a:t>
            </a:r>
            <a:r>
              <a:rPr lang="en-US" altLang="ko-KR" sz="24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 </a:t>
            </a:r>
            <a:r>
              <a:rPr lang="en-US" altLang="ko-KR" sz="2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24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10</a:t>
            </a:r>
            <a:br>
              <a:rPr lang="en-US" altLang="ko-KR" sz="24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4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x </a:t>
            </a:r>
            <a:r>
              <a:rPr lang="en-US" altLang="ko-KR" sz="2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24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20        </a:t>
            </a:r>
            <a:r>
              <a:rPr lang="en-US" altLang="ko-KR" sz="24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✔ </a:t>
            </a:r>
            <a:r>
              <a:rPr lang="ko-KR" altLang="en-US" sz="24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정상</a:t>
            </a:r>
            <a:br>
              <a:rPr lang="ko-KR" altLang="en-US" sz="24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24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x </a:t>
            </a:r>
            <a:r>
              <a:rPr lang="en-US" altLang="ko-KR" sz="24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2400" dirty="0">
                <a:solidFill>
                  <a:srgbClr val="067D17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"hello"   </a:t>
            </a:r>
            <a:r>
              <a:rPr lang="en-US" altLang="ko-KR" sz="24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en-US" sz="2400" i="1" dirty="0">
                <a:solidFill>
                  <a:srgbClr val="8C8C8C"/>
                </a:solidFill>
                <a:effectLst/>
                <a:latin typeface="Courier New" panose="02070309020205020404" pitchFamily="49" charset="0"/>
                <a:ea typeface="D2Coding ligature" panose="020B0609020101020101" pitchFamily="49" charset="-127"/>
              </a:rPr>
              <a:t>❌</a:t>
            </a:r>
            <a:r>
              <a:rPr lang="ko-KR" altLang="en-US" sz="24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컴파일 에러</a:t>
            </a:r>
            <a:endParaRPr lang="ko-KR" altLang="en-US" sz="2400" dirty="0">
              <a:solidFill>
                <a:srgbClr val="080808"/>
              </a:solidFill>
              <a:effectLst/>
              <a:latin typeface="D2Coding ligature" panose="020B0609020101020101" pitchFamily="49" charset="-127"/>
              <a:ea typeface="D2Coding ligature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37377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85272-5A2A-42E1-FAA9-66B5177B3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36534B1-6376-46E3-F543-2AC71D3FB017}"/>
              </a:ext>
            </a:extLst>
          </p:cNvPr>
          <p:cNvSpPr txBox="1"/>
          <p:nvPr/>
        </p:nvSpPr>
        <p:spPr>
          <a:xfrm>
            <a:off x="6943725" y="1443841"/>
            <a:ext cx="46482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en-US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객체지향 프로그래밍 </a:t>
            </a:r>
            <a:r>
              <a:rPr lang="en-US" altLang="ko-KR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en-US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명령형 </a:t>
            </a:r>
            <a:r>
              <a:rPr lang="en-US" altLang="ko-KR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-&gt; How)</a:t>
            </a:r>
            <a:br>
              <a:rPr lang="en-US" altLang="ko-KR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18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list 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8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listOf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en-US" altLang="ko-KR" sz="18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en-US" altLang="ko-KR" sz="18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3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18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temp 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8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mutableListOf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&lt;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&gt;()</a:t>
            </a:r>
            <a:b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for 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 </a:t>
            </a:r>
            <a:r>
              <a:rPr lang="en-US" altLang="ko-KR" sz="1800" u="sng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list</a:t>
            </a:r>
            <a:r>
              <a:rPr lang="en-US" altLang="ko-KR" sz="1800" u="sng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en-US" altLang="ko-KR" sz="1800" u="sng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u="sng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800" u="sng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if </a:t>
            </a:r>
            <a:r>
              <a:rPr lang="en-US" altLang="ko-KR" sz="1800" u="sng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800" u="sng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en-US" altLang="ko-KR" sz="1800" u="sng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800" u="sng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* </a:t>
            </a:r>
            <a:r>
              <a:rPr lang="en-US" altLang="ko-KR" sz="1800" u="sng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 </a:t>
            </a:r>
            <a:r>
              <a:rPr lang="en-US" altLang="ko-KR" sz="1800" u="sng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&gt; </a:t>
            </a:r>
            <a:r>
              <a:rPr lang="en-US" altLang="ko-KR" sz="1800" u="sng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</a:t>
            </a:r>
            <a:r>
              <a:rPr lang="en-US" altLang="ko-KR" sz="1800" u="sng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en-US" altLang="ko-KR" sz="1800" u="sng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u="sng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800" u="sng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temp</a:t>
            </a:r>
            <a:r>
              <a:rPr lang="en-US" altLang="ko-KR" sz="1800" u="sng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.add</a:t>
            </a:r>
            <a:r>
              <a:rPr lang="en-US" altLang="ko-KR" sz="1800" u="sng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800" u="sng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en-US" altLang="ko-KR" sz="1800" u="sng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800" u="sng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* </a:t>
            </a:r>
            <a:r>
              <a:rPr lang="en-US" altLang="ko-KR" sz="1800" u="sng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</a:t>
            </a:r>
            <a:r>
              <a:rPr lang="en-US" altLang="ko-KR" sz="1800" u="sng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800" u="sng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u="sng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  <a:br>
              <a:rPr lang="en-US" altLang="ko-KR" sz="1800" u="sng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u="sng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sz="1800" u="sng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i="1" u="sng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800" u="sng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800" u="sng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temp</a:t>
            </a:r>
            <a:r>
              <a:rPr lang="en-US" altLang="ko-KR" sz="1800" u="sng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800" u="sng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b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en-US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함수형 프로그래밍 </a:t>
            </a:r>
            <a:r>
              <a:rPr lang="en-US" altLang="ko-KR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en-US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선언형 </a:t>
            </a:r>
            <a:r>
              <a:rPr lang="en-US" altLang="ko-KR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-&gt; What)</a:t>
            </a:r>
            <a:br>
              <a:rPr lang="en-US" altLang="ko-KR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8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listOf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en-US" altLang="ko-KR" sz="18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en-US" altLang="ko-KR" sz="18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3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.</a:t>
            </a:r>
            <a:r>
              <a:rPr lang="en-US" altLang="ko-KR" sz="18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map </a:t>
            </a: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 it 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* </a:t>
            </a:r>
            <a:r>
              <a:rPr lang="en-US" altLang="ko-KR" sz="18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 </a:t>
            </a: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8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filter </a:t>
            </a: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 it 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&gt; </a:t>
            </a:r>
            <a:r>
              <a:rPr lang="en-US" altLang="ko-KR" sz="18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 </a:t>
            </a: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8024313-1F85-2A13-5ECB-FFBCDE37C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What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D8398C-C677-6394-DA1E-E2CF39F27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29300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>
                <a:latin typeface="+mn-ea"/>
              </a:rPr>
              <a:t>다중 패러다임 언어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함수형 프로그래밍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 + 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객체지향 프로그래밍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 err="1">
                <a:solidFill>
                  <a:srgbClr val="000000"/>
                </a:solidFill>
                <a:latin typeface="+mn-ea"/>
              </a:rPr>
              <a:t>코틀린을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 안전하고 유연하게 함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Jetpack Compose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에서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자세히 나타남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EE73C432-E0FB-BA22-14ED-F472579ABE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640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42FA6-1FE5-AFFF-BEA9-6737BD513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1EF0723-C85C-FBAF-4655-F5C42ABD5FC8}"/>
              </a:ext>
            </a:extLst>
          </p:cNvPr>
          <p:cNvSpPr txBox="1"/>
          <p:nvPr/>
        </p:nvSpPr>
        <p:spPr>
          <a:xfrm>
            <a:off x="6867525" y="2708632"/>
            <a:ext cx="44196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en-US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객체지향 프로그래밍 </a:t>
            </a:r>
            <a:r>
              <a:rPr lang="en-US" altLang="ko-KR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en-US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명령형 </a:t>
            </a:r>
            <a:r>
              <a:rPr lang="en-US" altLang="ko-KR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-&gt; How)</a:t>
            </a:r>
            <a:br>
              <a:rPr lang="en-US" altLang="ko-KR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18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list 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8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listOf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en-US" altLang="ko-KR" sz="18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en-US" altLang="ko-KR" sz="18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3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dirty="0" err="1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val</a:t>
            </a:r>
            <a:r>
              <a:rPr lang="en-US" altLang="ko-KR" sz="18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temp 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= </a:t>
            </a:r>
            <a:r>
              <a:rPr lang="en-US" altLang="ko-KR" sz="18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mutableListOf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&lt;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Int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&gt;()</a:t>
            </a:r>
            <a:b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for 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in 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list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0033B3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if 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* </a:t>
            </a:r>
            <a:r>
              <a:rPr lang="en-US" altLang="ko-KR" sz="18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 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&gt; </a:t>
            </a:r>
            <a:r>
              <a:rPr lang="en-US" altLang="ko-KR" sz="18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 {</a:t>
            </a:r>
            <a:b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    </a:t>
            </a:r>
            <a:r>
              <a:rPr lang="en-US" altLang="ko-KR" sz="18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temp</a:t>
            </a:r>
            <a:r>
              <a:rPr lang="en-US" altLang="ko-KR" sz="1800" dirty="0" err="1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.add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800" dirty="0" err="1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i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* </a:t>
            </a:r>
            <a:r>
              <a:rPr lang="en-US" altLang="ko-KR" sz="18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}</a:t>
            </a:r>
            <a:b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000000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temp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350A1AD-720A-C090-4E5B-73CA58C4E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* </a:t>
            </a:r>
            <a:r>
              <a:rPr lang="ko-KR" altLang="en-US" dirty="0">
                <a:solidFill>
                  <a:srgbClr val="000000"/>
                </a:solidFill>
                <a:latin typeface="+mn-ea"/>
              </a:rPr>
              <a:t>객체지향 프로그래밍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C84D46-0759-A08A-1DE1-39C378D84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29300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>
                <a:latin typeface="+mn-ea"/>
              </a:rPr>
              <a:t>객체지향 프로그래밍</a:t>
            </a:r>
            <a:r>
              <a:rPr lang="en-US" altLang="ko-KR" sz="3200" b="1" dirty="0">
                <a:latin typeface="+mn-ea"/>
              </a:rPr>
              <a:t>(OOP)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명령형 스타일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rgbClr val="FF5722"/>
                </a:solidFill>
              </a:rPr>
              <a:t>어떻게 할지 말해주는 방식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절차를 </a:t>
            </a:r>
            <a:r>
              <a:rPr lang="ko-KR" altLang="en-US" sz="2400" b="1" dirty="0">
                <a:solidFill>
                  <a:srgbClr val="FF5722"/>
                </a:solidFill>
              </a:rPr>
              <a:t>내가 직접 책임짐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코드의 과정이 촘촘하게 엮임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A1F60376-6348-9F55-EC3B-9BD4422AB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992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D32F2-B26E-CE27-D853-98119453B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485487-935C-4995-3D4E-523F7A5CF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* </a:t>
            </a:r>
            <a:r>
              <a:rPr lang="ko-KR" altLang="en-US" dirty="0"/>
              <a:t>함수형 프로그래밍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3C93B5-6FA8-2DC8-3C3D-A89D10E5A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29300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>
                <a:latin typeface="+mn-ea"/>
              </a:rPr>
              <a:t>함수형 프로그래밍</a:t>
            </a:r>
            <a:r>
              <a:rPr lang="en-US" altLang="ko-KR" sz="3200" b="1" dirty="0">
                <a:latin typeface="+mn-ea"/>
              </a:rPr>
              <a:t>(FP)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선언형 스타일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solidFill>
                  <a:srgbClr val="FF5722"/>
                </a:solidFill>
              </a:rPr>
              <a:t>무엇을 </a:t>
            </a:r>
            <a:r>
              <a:rPr lang="ko-KR" altLang="en-US" sz="2400" b="1" dirty="0" err="1">
                <a:solidFill>
                  <a:srgbClr val="FF5722"/>
                </a:solidFill>
              </a:rPr>
              <a:t>원하는지만</a:t>
            </a:r>
            <a:r>
              <a:rPr lang="ko-KR" altLang="en-US" sz="2400" b="1" dirty="0">
                <a:solidFill>
                  <a:srgbClr val="FF5722"/>
                </a:solidFill>
              </a:rPr>
              <a:t> 말하는 방식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절차를 </a:t>
            </a:r>
            <a:r>
              <a:rPr lang="ko-KR" altLang="en-US" sz="2400" b="1" dirty="0">
                <a:solidFill>
                  <a:srgbClr val="FF5722"/>
                </a:solidFill>
              </a:rPr>
              <a:t>언어나 라이브러리</a:t>
            </a:r>
            <a:r>
              <a:rPr lang="en-US" altLang="ko-KR" sz="2400" b="1" dirty="0">
                <a:solidFill>
                  <a:srgbClr val="FF5722"/>
                </a:solidFill>
              </a:rPr>
              <a:t>, </a:t>
            </a:r>
            <a:r>
              <a:rPr lang="ko-KR" altLang="en-US" sz="2400" b="1" dirty="0">
                <a:solidFill>
                  <a:srgbClr val="FF5722"/>
                </a:solidFill>
              </a:rPr>
              <a:t>프레임워크가 책임짐</a:t>
            </a:r>
            <a:r>
              <a:rPr lang="en-US" altLang="ko-KR" sz="2400" b="1" dirty="0">
                <a:solidFill>
                  <a:srgbClr val="FF5722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코드의 과정이 구분됨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69D6DE64-AB71-2ECF-7B9C-B6AA64A98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373213-D19C-CB85-808D-836BBB005FA9}"/>
              </a:ext>
            </a:extLst>
          </p:cNvPr>
          <p:cNvSpPr txBox="1"/>
          <p:nvPr/>
        </p:nvSpPr>
        <p:spPr>
          <a:xfrm>
            <a:off x="6862762" y="3119151"/>
            <a:ext cx="44291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// </a:t>
            </a:r>
            <a:r>
              <a:rPr lang="ko-KR" altLang="en-US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함수형 프로그래밍 </a:t>
            </a:r>
            <a:r>
              <a:rPr lang="en-US" altLang="ko-KR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ko-KR" altLang="en-US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선언형 </a:t>
            </a:r>
            <a:r>
              <a:rPr lang="en-US" altLang="ko-KR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-&gt; What)</a:t>
            </a:r>
            <a:br>
              <a:rPr lang="en-US" altLang="ko-KR" sz="1800" i="1" dirty="0">
                <a:solidFill>
                  <a:srgbClr val="8C8C8C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println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800" i="1" dirty="0" err="1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listOf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(</a:t>
            </a:r>
            <a:r>
              <a:rPr lang="en-US" altLang="ko-KR" sz="18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1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en-US" altLang="ko-KR" sz="18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, </a:t>
            </a:r>
            <a:r>
              <a:rPr lang="en-US" altLang="ko-KR" sz="18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3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  <a:b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.</a:t>
            </a:r>
            <a:r>
              <a:rPr lang="en-US" altLang="ko-KR" sz="18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map </a:t>
            </a: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 it 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* </a:t>
            </a:r>
            <a:r>
              <a:rPr lang="en-US" altLang="ko-KR" sz="18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 </a:t>
            </a: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b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</a:b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    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.</a:t>
            </a:r>
            <a:r>
              <a:rPr lang="en-US" altLang="ko-KR" sz="1800" i="1" dirty="0">
                <a:solidFill>
                  <a:srgbClr val="00627A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filter </a:t>
            </a: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{ it 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&gt; </a:t>
            </a:r>
            <a:r>
              <a:rPr lang="en-US" altLang="ko-KR" sz="1800" dirty="0">
                <a:solidFill>
                  <a:srgbClr val="1750EB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2 </a:t>
            </a:r>
            <a:r>
              <a:rPr lang="en-US" altLang="ko-KR" sz="1800" b="1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}</a:t>
            </a:r>
            <a:r>
              <a:rPr lang="en-US" altLang="ko-KR" sz="1800" dirty="0">
                <a:solidFill>
                  <a:srgbClr val="080808"/>
                </a:solidFill>
                <a:effectLst/>
                <a:latin typeface="D2Coding ligature" panose="020B0609020101020101" pitchFamily="49" charset="-127"/>
                <a:ea typeface="D2Coding ligature" panose="020B0609020101020101" pitchFamily="49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03922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CE36E-1E30-A454-45DF-3FB2944E5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래픽 8">
            <a:extLst>
              <a:ext uri="{FF2B5EF4-FFF2-40B4-BE49-F238E27FC236}">
                <a16:creationId xmlns:a16="http://schemas.microsoft.com/office/drawing/2014/main" id="{D2FFF5EA-10DA-989C-86FB-51384734E1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6175" y="1825625"/>
            <a:ext cx="3194050" cy="31940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3FD39B0-B36F-762F-7B64-B504B82E1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When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91C956-F68F-BC5F-F494-0AF606362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552949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>
                <a:latin typeface="+mn-ea"/>
              </a:rPr>
              <a:t>멀티 플랫폼 언어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100000"/>
              </a:lnSpc>
            </a:pP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JVM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은 물론 안드로이드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en-US" altLang="ko-KR" sz="2400" dirty="0" err="1">
                <a:solidFill>
                  <a:srgbClr val="000000"/>
                </a:solidFill>
                <a:latin typeface="+mn-ea"/>
              </a:rPr>
              <a:t>Javascript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네이티브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(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기계어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) 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등 웬만한 환경 가능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즉 웹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데스크탑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안드로이드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, </a:t>
            </a:r>
            <a:r>
              <a:rPr lang="en-US" altLang="ko-KR" sz="2400" dirty="0" err="1">
                <a:solidFill>
                  <a:srgbClr val="000000"/>
                </a:solidFill>
                <a:latin typeface="+mn-ea"/>
              </a:rPr>
              <a:t>ios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등 </a:t>
            </a:r>
            <a:r>
              <a:rPr lang="ko-KR" altLang="en-US" sz="2400" b="1" dirty="0">
                <a:solidFill>
                  <a:srgbClr val="FF5722"/>
                </a:solidFill>
                <a:latin typeface="+mn-ea"/>
              </a:rPr>
              <a:t>현존하는 모든 환경 탑재 가능</a:t>
            </a:r>
            <a:r>
              <a:rPr lang="en-US" altLang="ko-KR" sz="2400" b="1" dirty="0">
                <a:solidFill>
                  <a:srgbClr val="FF5722"/>
                </a:solidFill>
                <a:latin typeface="+mn-ea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이를 활용한 </a:t>
            </a:r>
            <a:r>
              <a:rPr lang="en-US" altLang="ko-KR" sz="2400" b="1" dirty="0">
                <a:solidFill>
                  <a:srgbClr val="FF5722"/>
                </a:solidFill>
                <a:latin typeface="+mn-ea"/>
              </a:rPr>
              <a:t>KMP(Kotlin Multi Platform) 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상용 중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.</a:t>
            </a: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F3631E8A-91AA-E05A-5478-3674F1926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C7EAA5-F6B2-11DF-33D8-D2CA841F6FF6}"/>
              </a:ext>
            </a:extLst>
          </p:cNvPr>
          <p:cNvSpPr txBox="1"/>
          <p:nvPr/>
        </p:nvSpPr>
        <p:spPr>
          <a:xfrm>
            <a:off x="7821613" y="5354121"/>
            <a:ext cx="25431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b="1" dirty="0">
                <a:solidFill>
                  <a:srgbClr val="000000"/>
                </a:solidFill>
                <a:latin typeface="+mn-ea"/>
              </a:rPr>
              <a:t>Kotlin Multi Platform</a:t>
            </a:r>
            <a:endParaRPr lang="ko-KR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96173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5DD62-BA10-ACBE-22BC-3E912E297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C8D67B-3BB6-DDE7-8DF5-617B17131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When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393D45-D32B-ACC7-FA48-4C23EC3C0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00624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ko-KR" altLang="en-US" sz="3200" b="1" dirty="0" err="1">
                <a:latin typeface="+mn-ea"/>
              </a:rPr>
              <a:t>스프링부트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자바 자체의 낮은 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Null 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안정성 해결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문법 차이 상 코드 길이 대폭 축소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확장 함수 지원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초기화 시점 지연 가능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 err="1">
                <a:solidFill>
                  <a:srgbClr val="000000"/>
                </a:solidFill>
                <a:latin typeface="+mn-ea"/>
              </a:rPr>
              <a:t>코루틴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C3BCA4A0-A34A-40DB-BD8C-610CEEF45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A39CF65D-E7F7-22A5-6106-C426AD6A64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92975" y="2955925"/>
            <a:ext cx="3600450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670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A94F7-53CA-0F34-4583-F9E36F0BB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34BBB6-49F9-0846-00F7-12997BE77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When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DF46ED-5F39-591F-F2E2-01EFBB7FB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00624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</a:t>
            </a:r>
            <a:r>
              <a:rPr lang="en-US" altLang="ko-KR" sz="3200" b="1" dirty="0" err="1">
                <a:latin typeface="+mn-ea"/>
              </a:rPr>
              <a:t>Ktor</a:t>
            </a:r>
            <a:endParaRPr lang="en-US" altLang="ko-KR" sz="3200" b="1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2400" dirty="0"/>
              <a:t>무겁고 설정 많은 </a:t>
            </a:r>
            <a:r>
              <a:rPr lang="ko-KR" altLang="en-US" sz="2400" dirty="0" err="1"/>
              <a:t>스프링부트에</a:t>
            </a:r>
            <a:r>
              <a:rPr lang="ko-KR" altLang="en-US" sz="2400" dirty="0"/>
              <a:t> 비해 매우 가벼운 프레임워크</a:t>
            </a:r>
            <a:r>
              <a:rPr lang="en-US" altLang="ko-KR" sz="24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 err="1">
                <a:solidFill>
                  <a:srgbClr val="000000"/>
                </a:solidFill>
                <a:latin typeface="+mn-ea"/>
              </a:rPr>
              <a:t>가벼운만큼</a:t>
            </a:r>
            <a:r>
              <a:rPr lang="ko-KR" altLang="en-US" sz="2400" dirty="0">
                <a:solidFill>
                  <a:srgbClr val="000000"/>
                </a:solidFill>
                <a:latin typeface="+mn-ea"/>
              </a:rPr>
              <a:t> 제공도 최소화</a:t>
            </a:r>
            <a:r>
              <a:rPr lang="en-US" altLang="ko-KR" sz="2400" dirty="0">
                <a:solidFill>
                  <a:srgbClr val="000000"/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서버 </a:t>
            </a:r>
            <a:r>
              <a:rPr lang="en-US" altLang="ko-KR" sz="2400" dirty="0"/>
              <a:t>+ </a:t>
            </a:r>
            <a:r>
              <a:rPr lang="ko-KR" altLang="en-US" sz="2400" dirty="0"/>
              <a:t>클라이언트 둘 다 가능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F57F2AC9-1502-138D-E164-57E9F6C40B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8" name="Picture 4" descr="Ktor 프로젝트 생성하기 | devkuma">
            <a:extLst>
              <a:ext uri="{FF2B5EF4-FFF2-40B4-BE49-F238E27FC236}">
                <a16:creationId xmlns:a16="http://schemas.microsoft.com/office/drawing/2014/main" id="{99EC9A5C-9ED1-955B-BB1A-2F466C26F9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5850" y="2738437"/>
            <a:ext cx="3314700" cy="138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7548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49204-C740-EC6E-29C1-F38C3F3DF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38A428-3461-8184-5437-1B10FAB84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When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423A32-404C-ADD5-566B-B5229B86C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00624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3200" b="1" dirty="0">
                <a:latin typeface="+mn-ea"/>
              </a:rPr>
              <a:t> Jetpack Compose</a:t>
            </a:r>
          </a:p>
          <a:p>
            <a:pPr>
              <a:lnSpc>
                <a:spcPct val="150000"/>
              </a:lnSpc>
            </a:pPr>
            <a:r>
              <a:rPr lang="ko-KR" altLang="en-US" sz="2400" dirty="0"/>
              <a:t>선언형 </a:t>
            </a:r>
            <a:r>
              <a:rPr lang="en-US" altLang="ko-KR" sz="2400" dirty="0"/>
              <a:t>UI</a:t>
            </a:r>
          </a:p>
          <a:p>
            <a:pPr>
              <a:lnSpc>
                <a:spcPct val="150000"/>
              </a:lnSpc>
            </a:pPr>
            <a:r>
              <a:rPr lang="ko-KR" altLang="en-US" sz="2400" dirty="0" err="1"/>
              <a:t>코드량</a:t>
            </a:r>
            <a:r>
              <a:rPr lang="ko-KR" altLang="en-US" sz="2400" dirty="0"/>
              <a:t> 감소 </a:t>
            </a:r>
            <a:r>
              <a:rPr lang="en-US" altLang="ko-KR" sz="2400" dirty="0"/>
              <a:t>&amp; </a:t>
            </a:r>
            <a:r>
              <a:rPr lang="ko-KR" altLang="en-US" sz="2400" dirty="0"/>
              <a:t>생산성 향상</a:t>
            </a:r>
            <a:endParaRPr lang="en-US" altLang="ko-KR" sz="2400" dirty="0"/>
          </a:p>
          <a:p>
            <a:pPr>
              <a:lnSpc>
                <a:spcPct val="150000"/>
              </a:lnSpc>
            </a:pPr>
            <a:r>
              <a:rPr lang="ko-KR" altLang="en-US" sz="2400" dirty="0"/>
              <a:t>재사용성과 </a:t>
            </a:r>
            <a:r>
              <a:rPr lang="ko-KR" altLang="en-US" sz="2400" dirty="0" err="1"/>
              <a:t>조합성</a:t>
            </a:r>
            <a:endParaRPr lang="en-US" altLang="ko-KR" sz="24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5" name="Rectangle 7">
            <a:extLst>
              <a:ext uri="{FF2B5EF4-FFF2-40B4-BE49-F238E27FC236}">
                <a16:creationId xmlns:a16="http://schemas.microsoft.com/office/drawing/2014/main" id="{02A07F11-7C9C-7A41-4F1D-6267CE539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2" descr="Android Jetpack Compose] Compose 란? | SoftyChoo">
            <a:extLst>
              <a:ext uri="{FF2B5EF4-FFF2-40B4-BE49-F238E27FC236}">
                <a16:creationId xmlns:a16="http://schemas.microsoft.com/office/drawing/2014/main" id="{377FED8D-FDE0-371E-B9AC-B5C09D6E5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2888" y="2435234"/>
            <a:ext cx="5000624" cy="1987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5792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45FCD35-68A9-8D8D-4B54-BD83022434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362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유지민민">
      <a:majorFont>
        <a:latin typeface="나눔스퀘어라운드OTF Regular"/>
        <a:ea typeface="나눔스퀘어라운드OTF Regular"/>
        <a:cs typeface=""/>
      </a:majorFont>
      <a:minorFont>
        <a:latin typeface="나눔스퀘어라운드OTF Regular"/>
        <a:ea typeface="나눔스퀘어라운드OTF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2610</TotalTime>
  <Words>587</Words>
  <Application>Microsoft Office PowerPoint</Application>
  <PresentationFormat>와이드스크린</PresentationFormat>
  <Paragraphs>82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D2Coding ligature</vt:lpstr>
      <vt:lpstr>나눔스퀘어라운드OTF Regular</vt:lpstr>
      <vt:lpstr>맑은 고딕</vt:lpstr>
      <vt:lpstr>Arial</vt:lpstr>
      <vt:lpstr>Courier New</vt:lpstr>
      <vt:lpstr>Wingdings</vt:lpstr>
      <vt:lpstr>Office 테마</vt:lpstr>
      <vt:lpstr>Kotlin</vt:lpstr>
      <vt:lpstr>목차</vt:lpstr>
      <vt:lpstr>What</vt:lpstr>
      <vt:lpstr>What</vt:lpstr>
      <vt:lpstr>* NPE (Null Pointer Exception)</vt:lpstr>
      <vt:lpstr>* 컴파일 &amp; 런타임</vt:lpstr>
      <vt:lpstr>What</vt:lpstr>
      <vt:lpstr>What</vt:lpstr>
      <vt:lpstr>* 객체지향 프로그래밍</vt:lpstr>
      <vt:lpstr>* 함수형 프로그래밍</vt:lpstr>
      <vt:lpstr>When</vt:lpstr>
      <vt:lpstr>When</vt:lpstr>
      <vt:lpstr>When</vt:lpstr>
      <vt:lpstr>When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mr.gllom mr.gllom</dc:creator>
  <cp:lastModifiedBy>윤지 채</cp:lastModifiedBy>
  <cp:revision>6</cp:revision>
  <dcterms:created xsi:type="dcterms:W3CDTF">2025-09-20T06:33:18Z</dcterms:created>
  <dcterms:modified xsi:type="dcterms:W3CDTF">2026-04-15T08:24:55Z</dcterms:modified>
</cp:coreProperties>
</file>