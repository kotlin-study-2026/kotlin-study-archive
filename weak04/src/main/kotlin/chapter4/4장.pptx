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73" r:id="rId3"/>
    <p:sldId id="302" r:id="rId4"/>
    <p:sldId id="334" r:id="rId5"/>
    <p:sldId id="260" r:id="rId6"/>
    <p:sldId id="335" r:id="rId7"/>
    <p:sldId id="336" r:id="rId8"/>
    <p:sldId id="338" r:id="rId9"/>
    <p:sldId id="337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6" r:id="rId27"/>
    <p:sldId id="355" r:id="rId28"/>
    <p:sldId id="357" r:id="rId29"/>
    <p:sldId id="358" r:id="rId30"/>
    <p:sldId id="359" r:id="rId31"/>
    <p:sldId id="272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722"/>
    <a:srgbClr val="000000"/>
    <a:srgbClr val="212121"/>
    <a:srgbClr val="FFFFFF"/>
    <a:srgbClr val="009688"/>
    <a:srgbClr val="FAFAFA"/>
    <a:srgbClr val="FAF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2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9CB68-1941-4906-AC12-2D09C79E6FC6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B2A7E-D471-4CC7-B736-F0E750F51E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64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81BFE-472C-AF23-2029-6DA324332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28A33E-F5DB-1036-E8B3-FBA04DC26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F669E3-12AA-7AF5-48FA-4CAA4BD5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CA5F7C-F264-FAC4-9A35-C56F51A5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8662AA-7A3C-E3B2-BAEE-996F22F58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59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BD7BB-911F-8F0F-E065-FE7BF9E6C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4F1CBB-4913-5D20-F798-54DE4F08C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06D1A2-531B-B859-4600-7D3BA314A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825EC8-DDBA-7DD5-F2B7-94094B227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04AABF-27AB-171E-7736-558F5285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9C6FB-E474-602B-0BAD-E2259AEE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DBCF1C-1C77-DC9F-BE47-47F78513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E2F0D1-C861-6850-4681-94E0991C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004389-A881-D74E-67D0-507332F37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131549-9AD6-A055-8DC7-49259C03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507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A9677-7067-AE43-E6EA-7121223CA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5E21F-B711-3725-D9E6-7B624C82E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2B3174-BBA9-D1C1-68BE-AA39626C1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988F8A-BCCA-EA9B-3F2D-3CE189C6C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7647FE-A50D-3A6B-A5B8-1746E58FB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D4B680-A5CA-2369-C868-29E4DA468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87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A26D9-81FB-28A2-A189-19D866CBE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0409CF-46E2-8692-1DDD-BD6F09413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C93492-A078-58FE-F431-8A6B16453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425CF4-E490-B087-799B-A284A5E29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F05079-0B1D-2A08-4B5A-7A47563FAD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4CB6D9-4B94-78AD-DA57-2E708DE99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FAFAB1D-B6D7-722E-9B89-2C9AAF48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0175EC-D192-9F74-E1D9-9794ECC74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735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150F0-F0B5-1431-EC65-E7735A97A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056517-8D1C-E941-0F28-1C8683D6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5FB620-8763-F137-95F8-0717A78A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756677-C408-1CB4-480E-2007C105A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77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712225-B2B1-AC3A-7302-BC54A934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C7CB12-69E1-E183-B317-9AFF1D36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D257A-3B96-13BA-67CA-D0CB6206D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44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8F4DC-3405-3AAD-71BE-C4A1B45E3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8DE67E-4BA6-A7C5-CB7D-CAC6AF129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96027B-319E-E8FA-5654-775F932AA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2F7B85-1CD8-B7BA-D246-D0B249A3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2CE49D-CA29-23D9-0641-F90D5891F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E28064-4997-6872-3172-D1D00B04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17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0BE001-34F2-E5D4-7617-77DBB8BC4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0399026-4B53-0032-A905-E344171D6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8A3BD4-F81A-FCAB-5C0F-56AA1BC29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919C95-B508-4B2A-D648-A2371BF2E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C060E1-303A-06C8-180B-D8DFB19C3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92A05B-7B6E-4F4C-854A-0A4AE47F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754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C9EBF8-80C9-8E0A-3B5C-C30D3348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C09593-F2B7-0A77-1276-CBDEB926B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A3DC8-A418-7F10-9B10-6B287200E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064125-E8C9-D375-C409-EC4ABC976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EB8F2B-6883-D688-2939-86C45E1C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015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21DA494-40F1-4263-511A-0174C1521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D612D5-EAED-A3F7-D9B2-7E7D35396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290166-D5B1-7CA7-0990-0BFAB3F1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6AC9C1-87DF-962D-74EA-0F47162E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F12968-7CAA-DF11-CF28-045E73DD1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106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B4D2831-1054-433A-439B-261C3F45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0958DC-3F4B-88EC-B11C-25ED353B7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05A6B-E3F9-EDFE-F146-5795CC45C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215A9-734E-4AD3-8910-5EED93001A62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BFB9AA-ACE8-6B52-2FB0-DFC715A82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EF4FB8-5A01-566E-6DB0-67E074FB7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71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21212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1212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1212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1212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3A9C1-EF8C-0E35-7892-BECDD7D7C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ko-KR" altLang="en-US" dirty="0"/>
              <a:t>클래스</a:t>
            </a:r>
            <a:r>
              <a:rPr lang="en-US" altLang="ko-KR" dirty="0"/>
              <a:t>, </a:t>
            </a:r>
            <a:r>
              <a:rPr lang="ko-KR" altLang="en-US" dirty="0"/>
              <a:t>객체</a:t>
            </a:r>
            <a:r>
              <a:rPr lang="en-US" altLang="ko-KR" dirty="0"/>
              <a:t>, </a:t>
            </a:r>
            <a:r>
              <a:rPr lang="ko-KR" altLang="en-US" dirty="0"/>
              <a:t>인터페이스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3EEAF6-6ABF-556C-87EA-7710277EA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22800"/>
            <a:ext cx="9684774" cy="223520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1800" dirty="0"/>
              <a:t>유지민</a:t>
            </a:r>
          </a:p>
        </p:txBody>
      </p:sp>
    </p:spTree>
    <p:extLst>
      <p:ext uri="{BB962C8B-B14F-4D97-AF65-F5344CB8AC3E}">
        <p14:creationId xmlns:p14="http://schemas.microsoft.com/office/powerpoint/2010/main" val="378587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BDAA1-B01A-DC99-5C8E-4EC9D3BD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E704D-39F8-2CA4-4D4A-4DDED691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0399A3-6B37-93DA-2161-4EC1433CD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3261" y="1749632"/>
            <a:ext cx="3825478" cy="3774816"/>
          </a:xfrm>
        </p:spPr>
        <p:txBody>
          <a:bodyPr wrap="square" anchor="ctr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클래스 계층 정의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ko-KR" dirty="0"/>
              <a:t>생성자와 프로퍼티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데이터 클래스와 위임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ko-KR" dirty="0" err="1"/>
              <a:t>object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인라인 클래스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73298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BD137-8781-60D0-EA6C-A1C3C6C16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F6A4B2-8F40-30EC-31A4-5B8D1E4B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3D6F39-327E-8EE7-2C43-C9A278289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095999" cy="503237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 err="1">
                <a:latin typeface="+mn-ea"/>
              </a:rPr>
              <a:t>코틀린</a:t>
            </a:r>
            <a:r>
              <a:rPr lang="ko-KR" altLang="en-US" sz="3200" b="1" dirty="0">
                <a:latin typeface="+mn-ea"/>
              </a:rPr>
              <a:t> 클래스를 다루는 방법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2400" dirty="0" err="1">
                <a:solidFill>
                  <a:srgbClr val="000000"/>
                </a:solidFill>
              </a:rPr>
              <a:t>코틀린의</a:t>
            </a:r>
            <a:r>
              <a:rPr lang="ko-KR" altLang="en-US" sz="2400" dirty="0">
                <a:solidFill>
                  <a:srgbClr val="000000"/>
                </a:solidFill>
              </a:rPr>
              <a:t> 기본 키워드가 </a:t>
            </a:r>
            <a:r>
              <a:rPr lang="en-US" altLang="ko-KR" sz="2400" dirty="0">
                <a:solidFill>
                  <a:srgbClr val="000000"/>
                </a:solidFill>
              </a:rPr>
              <a:t>JVM </a:t>
            </a:r>
            <a:r>
              <a:rPr lang="ko-KR" altLang="en-US" sz="2400" dirty="0">
                <a:solidFill>
                  <a:srgbClr val="000000"/>
                </a:solidFill>
              </a:rPr>
              <a:t>바이트코드나 런타임 모델에서 어떤 형태로 내려가는지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ko-KR" sz="2400" dirty="0" err="1"/>
              <a:t>코틀린은</a:t>
            </a:r>
            <a:r>
              <a:rPr lang="ko-KR" altLang="ko-KR" sz="2400" dirty="0"/>
              <a:t> 어떤 건 자동 생성하고, 어떤 건 막고, 어떤 건 명시적으로 </a:t>
            </a:r>
            <a:r>
              <a:rPr lang="ko-KR" altLang="ko-KR" sz="2400" dirty="0" err="1"/>
              <a:t>선언</a:t>
            </a:r>
            <a:r>
              <a:rPr lang="ko-KR" altLang="en-US" sz="2400" dirty="0" err="1"/>
              <a:t>토록</a:t>
            </a:r>
            <a:r>
              <a:rPr lang="ko-KR" altLang="en-US" sz="2400" dirty="0"/>
              <a:t> 함</a:t>
            </a:r>
            <a:r>
              <a:rPr lang="en-US" altLang="ko-KR" sz="2400" dirty="0"/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“이 문법을 어떻게 쓰나</a:t>
            </a:r>
            <a:r>
              <a:rPr lang="en-US" altLang="ko-KR" sz="2400" dirty="0">
                <a:solidFill>
                  <a:srgbClr val="000000"/>
                </a:solidFill>
              </a:rPr>
              <a:t>?”</a:t>
            </a:r>
            <a:r>
              <a:rPr lang="ko-KR" altLang="en-US" sz="2400" dirty="0">
                <a:solidFill>
                  <a:srgbClr val="000000"/>
                </a:solidFill>
              </a:rPr>
              <a:t>가 아니라 “</a:t>
            </a:r>
            <a:r>
              <a:rPr lang="ko-KR" altLang="en-US" sz="2400" b="1" dirty="0">
                <a:solidFill>
                  <a:srgbClr val="FF5722"/>
                </a:solidFill>
              </a:rPr>
              <a:t>이 문법이 어떤 위험을 줄이고</a:t>
            </a:r>
            <a:r>
              <a:rPr lang="en-US" altLang="ko-KR" sz="2400" b="1" dirty="0">
                <a:solidFill>
                  <a:srgbClr val="FF5722"/>
                </a:solidFill>
              </a:rPr>
              <a:t>, </a:t>
            </a:r>
            <a:r>
              <a:rPr lang="ko-KR" altLang="en-US" sz="2400" b="1" dirty="0">
                <a:solidFill>
                  <a:srgbClr val="FF5722"/>
                </a:solidFill>
              </a:rPr>
              <a:t>컴파일러가 내부적으로 무엇을 만들어내나</a:t>
            </a:r>
            <a:r>
              <a:rPr lang="en-US" altLang="ko-KR" sz="2400" b="1" dirty="0">
                <a:solidFill>
                  <a:srgbClr val="FF5722"/>
                </a:solidFill>
              </a:rPr>
              <a:t>?</a:t>
            </a:r>
            <a:r>
              <a:rPr lang="en-US" altLang="ko-KR" sz="2400" dirty="0">
                <a:solidFill>
                  <a:srgbClr val="000000"/>
                </a:solidFill>
              </a:rPr>
              <a:t>”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05F67304-8B94-BE17-1E60-5527F8FD7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477D39FC-5605-44EA-B21D-79FCF170D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923" y="985838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124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10E1B-C322-03A7-2093-866357D67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D2861-C9EB-7DCA-76FF-C3BC1BD45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계층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3BE1B7-385B-ACC0-6904-F29D48BD3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714877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interface</a:t>
            </a:r>
            <a:endParaRPr lang="en-US" altLang="ko-KR" sz="2400" b="1" dirty="0">
              <a:solidFill>
                <a:srgbClr val="FF5722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인터페이스에 구현 있는 메서드를 자연스럽게 넣을 수 있음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인터페이스는 상태 저장 책임</a:t>
            </a:r>
            <a:r>
              <a:rPr lang="en-US" altLang="ko-KR" sz="2400" b="1" dirty="0">
                <a:solidFill>
                  <a:srgbClr val="FF5722"/>
                </a:solidFill>
              </a:rPr>
              <a:t>(</a:t>
            </a:r>
            <a:r>
              <a:rPr lang="ko-KR" altLang="en-US" sz="2400" b="1" dirty="0">
                <a:solidFill>
                  <a:srgbClr val="FF5722"/>
                </a:solidFill>
              </a:rPr>
              <a:t>필드 정의</a:t>
            </a:r>
            <a:r>
              <a:rPr lang="en-US" altLang="ko-KR" sz="2400" b="1" dirty="0">
                <a:solidFill>
                  <a:srgbClr val="FF5722"/>
                </a:solidFill>
              </a:rPr>
              <a:t>)</a:t>
            </a:r>
            <a:r>
              <a:rPr lang="ko-KR" altLang="en-US" sz="2400" b="1" dirty="0">
                <a:solidFill>
                  <a:srgbClr val="FF5722"/>
                </a:solidFill>
              </a:rPr>
              <a:t>을 클래스에게 남김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필드가 아닌</a:t>
            </a:r>
            <a:r>
              <a:rPr lang="en-US" altLang="ko-KR" sz="2400" dirty="0">
                <a:solidFill>
                  <a:srgbClr val="000000"/>
                </a:solidFill>
              </a:rPr>
              <a:t>, </a:t>
            </a:r>
            <a:r>
              <a:rPr lang="ko-KR" altLang="en-US" sz="2400" dirty="0" err="1">
                <a:solidFill>
                  <a:srgbClr val="000000"/>
                </a:solidFill>
              </a:rPr>
              <a:t>접근자</a:t>
            </a:r>
            <a:r>
              <a:rPr lang="ko-KR" altLang="en-US" sz="2400" dirty="0">
                <a:solidFill>
                  <a:srgbClr val="000000"/>
                </a:solidFill>
              </a:rPr>
              <a:t> 메소드를 선언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939F3659-E573-989E-119D-F84C4E89C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2E78E-0A87-9A23-7144-D44A3A87F6EB}"/>
              </a:ext>
            </a:extLst>
          </p:cNvPr>
          <p:cNvSpPr txBox="1"/>
          <p:nvPr/>
        </p:nvSpPr>
        <p:spPr>
          <a:xfrm>
            <a:off x="6029323" y="102834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internal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interface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Clickable</a:t>
            </a:r>
            <a:r>
              <a:rPr lang="ko-KR" altLang="ko-KR" sz="18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showOff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8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I'm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clickable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!"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en-US" altLang="ko-KR" sz="18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endParaRPr lang="en-US" altLang="ko-KR" sz="18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interface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EmailUser</a:t>
            </a:r>
            <a:r>
              <a:rPr lang="ko-KR" altLang="ko-KR" sz="18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email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8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nickname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8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8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= </a:t>
            </a:r>
            <a:r>
              <a:rPr lang="ko-KR" altLang="ko-KR" sz="18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email.substringBefore</a:t>
            </a:r>
            <a:r>
              <a:rPr lang="ko-KR" altLang="ko-KR" sz="18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('@')   </a:t>
            </a:r>
            <a:r>
              <a:rPr lang="ko-KR" altLang="ko-KR" sz="18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❌</a:t>
            </a:r>
            <a:br>
              <a:rPr lang="ko-KR" altLang="ko-KR" sz="18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       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ko-KR" altLang="ko-KR" sz="18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email</a:t>
            </a:r>
            <a:r>
              <a:rPr lang="ko-KR" altLang="ko-KR" sz="18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substringBefore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'@'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 </a:t>
            </a:r>
            <a:r>
              <a:rPr lang="ko-KR" altLang="ko-KR" sz="18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8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✅</a:t>
            </a:r>
            <a:br>
              <a:rPr lang="ko-KR" altLang="ko-KR" sz="18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en-US" altLang="ko-KR" sz="18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endParaRPr lang="en-US" altLang="ko-KR" sz="18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r>
              <a:rPr lang="ko-KR" altLang="ko-KR" sz="18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8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java</a:t>
            </a:r>
            <a:br>
              <a:rPr lang="ko-KR" altLang="ko-KR" sz="18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public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interface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EmailUser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8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getNickname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();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93AB1A-4905-1C20-39A8-84A08C898244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hierarchy/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lnterface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EmailUser.kt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8969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BEA95-F698-7E59-5317-3BB9BA4A8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B1897-6D67-761B-405D-EAC7A1B44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계층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50C0E5-24F4-E137-690F-A9821BCD5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714877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기본 메소드 충돌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컴파일 타임에 </a:t>
            </a:r>
            <a:r>
              <a:rPr lang="ko-KR" altLang="ko-KR" sz="2400" dirty="0"/>
              <a:t>어떤 구현을 호출할지 정해야</a:t>
            </a:r>
            <a:r>
              <a:rPr lang="en-US" altLang="ko-KR" sz="2400" dirty="0"/>
              <a:t> </a:t>
            </a:r>
            <a:r>
              <a:rPr lang="ko-KR" altLang="en-US" sz="2400" dirty="0"/>
              <a:t>함</a:t>
            </a:r>
            <a:r>
              <a:rPr lang="en-US" altLang="ko-KR" sz="2400" dirty="0"/>
              <a:t>.</a:t>
            </a:r>
            <a:endParaRPr lang="en-US" altLang="ko-KR" sz="24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언어는 개발자의 의도를 추측하지 않도록 설계됐기 때문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rgbClr val="000000"/>
                </a:solidFill>
              </a:rPr>
              <a:t>super&lt;</a:t>
            </a:r>
            <a:r>
              <a:rPr lang="ko-KR" altLang="en-US" sz="2400" dirty="0">
                <a:solidFill>
                  <a:srgbClr val="000000"/>
                </a:solidFill>
              </a:rPr>
              <a:t>타입</a:t>
            </a:r>
            <a:r>
              <a:rPr lang="en-US" altLang="ko-KR" sz="2400" dirty="0">
                <a:solidFill>
                  <a:srgbClr val="000000"/>
                </a:solidFill>
              </a:rPr>
              <a:t>&gt; </a:t>
            </a:r>
            <a:r>
              <a:rPr lang="ko-KR" altLang="en-US" sz="2400" dirty="0">
                <a:solidFill>
                  <a:srgbClr val="000000"/>
                </a:solidFill>
              </a:rPr>
              <a:t>문법으로 명시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46374923-F320-A8B6-1168-14CBAC020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8C6E8-B931-842D-1443-06FBD728C9B4}"/>
              </a:ext>
            </a:extLst>
          </p:cNvPr>
          <p:cNvSpPr txBox="1"/>
          <p:nvPr/>
        </p:nvSpPr>
        <p:spPr>
          <a:xfrm>
            <a:off x="5705475" y="335846"/>
            <a:ext cx="641984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interface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Focusable</a:t>
            </a:r>
            <a:r>
              <a:rPr lang="ko-KR" altLang="ko-KR" sz="18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setFocus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8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8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Boolean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=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8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8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8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got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else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8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lost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8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focus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."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showOff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8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I'm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focusable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!"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internal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interface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Clickable</a:t>
            </a:r>
            <a:r>
              <a:rPr lang="ko-KR" altLang="ko-KR" sz="18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showOff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8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I'm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clickable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!"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Button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: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Clickable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Focusable</a:t>
            </a:r>
            <a:r>
              <a:rPr lang="ko-KR" altLang="ko-KR" sz="18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8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was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clicked</a:t>
            </a:r>
            <a:r>
              <a:rPr lang="ko-KR" altLang="ko-KR" sz="18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8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showOff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8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8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super.showOff</a:t>
            </a:r>
            <a:r>
              <a:rPr lang="ko-KR" altLang="ko-KR" sz="18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</a:t>
            </a:r>
            <a:r>
              <a:rPr lang="ko-KR" altLang="ko-KR" sz="18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❌</a:t>
            </a:r>
            <a:br>
              <a:rPr lang="ko-KR" altLang="ko-KR" sz="18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   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super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Clickable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&gt;.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showOff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</a:t>
            </a:r>
            <a:r>
              <a:rPr lang="ko-KR" altLang="ko-KR" sz="18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8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✅</a:t>
            </a:r>
            <a:br>
              <a:rPr lang="ko-KR" altLang="ko-KR" sz="18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    </a:t>
            </a:r>
            <a:r>
              <a:rPr lang="ko-KR" altLang="ko-KR" sz="18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super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Focusable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&gt;.</a:t>
            </a:r>
            <a:r>
              <a:rPr lang="ko-KR" altLang="ko-KR" sz="18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showOff</a:t>
            </a: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</a:t>
            </a:r>
            <a:r>
              <a:rPr lang="ko-KR" altLang="ko-KR" sz="18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8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✅</a:t>
            </a:r>
            <a:endParaRPr lang="ko-KR" altLang="ko-KR" sz="18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8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2CFF9E-FBC4-75D8-793D-E37A58CB6651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hierarchy/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lnterface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/focusable/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Focusable.kt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, Focusable.java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2128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9BF54-045A-A143-904A-D815E8D8B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15BDEB-ACB0-4DFC-ECD6-15D3E7BA6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계층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E003FA-5FF0-81F7-AD9B-19D109782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714877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상속과 </a:t>
            </a:r>
            <a:r>
              <a:rPr lang="ko-KR" altLang="en-US" sz="3200" b="1" dirty="0" err="1">
                <a:latin typeface="+mn-ea"/>
              </a:rPr>
              <a:t>오버라이드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 err="1">
                <a:solidFill>
                  <a:srgbClr val="000000"/>
                </a:solidFill>
              </a:rPr>
              <a:t>코틀린은</a:t>
            </a:r>
            <a:r>
              <a:rPr lang="ko-KR" altLang="en-US" sz="2400" dirty="0">
                <a:solidFill>
                  <a:srgbClr val="000000"/>
                </a:solidFill>
              </a:rPr>
              <a:t> </a:t>
            </a:r>
            <a:r>
              <a:rPr lang="ko-KR" altLang="en-US" sz="2400" b="1" dirty="0">
                <a:solidFill>
                  <a:srgbClr val="FF5722"/>
                </a:solidFill>
              </a:rPr>
              <a:t>클래스도 메서드도 기본적으로 </a:t>
            </a:r>
            <a:r>
              <a:rPr lang="en-US" altLang="ko-KR" sz="2400" b="1" dirty="0">
                <a:solidFill>
                  <a:srgbClr val="FF5722"/>
                </a:solidFill>
              </a:rPr>
              <a:t>final. 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단순 취향이 아니라 객체지향 설계 철학의 차이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상속을 명시적인 </a:t>
            </a:r>
            <a:r>
              <a:rPr lang="en-US" altLang="ko-KR" sz="2400" dirty="0">
                <a:solidFill>
                  <a:srgbClr val="000000"/>
                </a:solidFill>
              </a:rPr>
              <a:t>API </a:t>
            </a:r>
            <a:r>
              <a:rPr lang="ko-KR" altLang="en-US" sz="2400" dirty="0">
                <a:solidFill>
                  <a:srgbClr val="000000"/>
                </a:solidFill>
              </a:rPr>
              <a:t>설계로 취급하겠다는 결정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7C874073-1C0E-E875-75C5-66ED5D9E7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9BEAC2-DCDF-BE3C-33FA-C592C7C425E1}"/>
              </a:ext>
            </a:extLst>
          </p:cNvPr>
          <p:cNvSpPr txBox="1"/>
          <p:nvPr/>
        </p:nvSpPr>
        <p:spPr>
          <a:xfrm>
            <a:off x="6126463" y="1720840"/>
            <a:ext cx="599885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2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Java</a:t>
            </a:r>
            <a:b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JavaButton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/*</a:t>
            </a:r>
            <a:r>
              <a:rPr lang="ko-KR" altLang="ko-KR" sz="2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*/</a:t>
            </a: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void</a:t>
            </a: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{}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  <a:p>
            <a:pPr>
              <a:buNone/>
            </a:pP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2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Kotlin</a:t>
            </a:r>
            <a:b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KotlinButton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/*</a:t>
            </a:r>
            <a:r>
              <a:rPr lang="ko-KR" altLang="ko-KR" sz="2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public</a:t>
            </a:r>
            <a: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final</a:t>
            </a:r>
            <a:r>
              <a:rPr lang="ko-KR" altLang="ko-KR" sz="2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*/</a:t>
            </a:r>
            <a:r>
              <a:rPr lang="ko-KR" altLang="ko-KR" sz="2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2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</a:t>
            </a: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{}</a:t>
            </a:r>
            <a:b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708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29E62-E617-79C4-225A-5D75CA133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AA57F-958B-04EF-C657-5C7BEAF6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계층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E001F1-95DE-3F51-CA60-AC85D55DB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924549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final override</a:t>
            </a:r>
          </a:p>
          <a:p>
            <a:pPr>
              <a:lnSpc>
                <a:spcPct val="250000"/>
              </a:lnSpc>
            </a:pPr>
            <a:r>
              <a:rPr lang="en-US" altLang="ko-KR" sz="2400" dirty="0">
                <a:solidFill>
                  <a:srgbClr val="000000"/>
                </a:solidFill>
              </a:rPr>
              <a:t>override</a:t>
            </a:r>
            <a:r>
              <a:rPr lang="ko-KR" altLang="en-US" sz="2400" dirty="0">
                <a:solidFill>
                  <a:srgbClr val="000000"/>
                </a:solidFill>
              </a:rPr>
              <a:t>한 멤버는 기본적으로 다시 </a:t>
            </a:r>
            <a:r>
              <a:rPr lang="en-US" altLang="ko-KR" sz="2400" dirty="0">
                <a:solidFill>
                  <a:srgbClr val="000000"/>
                </a:solidFill>
              </a:rPr>
              <a:t>open.</a:t>
            </a:r>
          </a:p>
          <a:p>
            <a:pPr>
              <a:lnSpc>
                <a:spcPct val="25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그걸 다시 닫고 싶다면 </a:t>
            </a:r>
            <a:r>
              <a:rPr lang="en-US" altLang="ko-KR" sz="2400" b="1" dirty="0">
                <a:solidFill>
                  <a:srgbClr val="FF5722"/>
                </a:solidFill>
              </a:rPr>
              <a:t>final override</a:t>
            </a:r>
            <a:r>
              <a:rPr lang="ko-KR" altLang="en-US" sz="2400" b="1" dirty="0">
                <a:solidFill>
                  <a:srgbClr val="FF5722"/>
                </a:solidFill>
              </a:rPr>
              <a:t>라고 명시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  <a:endParaRPr lang="en-US" altLang="ko-KR" sz="2400" dirty="0">
              <a:solidFill>
                <a:srgbClr val="000000"/>
              </a:solidFill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6AD0CF65-B9C1-9316-80C0-120CCC9BC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0A1FE-B2DF-5A2E-EC4F-92B6696A662F}"/>
              </a:ext>
            </a:extLst>
          </p:cNvPr>
          <p:cNvSpPr txBox="1"/>
          <p:nvPr/>
        </p:nvSpPr>
        <p:spPr>
          <a:xfrm>
            <a:off x="6943725" y="766733"/>
            <a:ext cx="500062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open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RichButton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: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Clickable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disable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 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/* </a:t>
            </a:r>
            <a:r>
              <a:rPr lang="ko-KR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final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*/ </a:t>
            </a:r>
            <a:b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open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animate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 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/* </a:t>
            </a:r>
            <a:r>
              <a:rPr lang="ko-KR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가능 */ </a:t>
            </a:r>
            <a:b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 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/* </a:t>
            </a:r>
            <a:r>
              <a:rPr lang="ko-KR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가능 */ </a:t>
            </a:r>
            <a:b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/*</a:t>
            </a:r>
            <a:r>
              <a:rPr lang="ko-KR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final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 </a:t>
            </a:r>
            <a:b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불가능 </a:t>
            </a:r>
            <a:b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}*/</a:t>
            </a:r>
            <a:b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97BA25-4113-5C7D-F215-060EAF37C1C5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hierarchy/keywords/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RichButton.kt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5470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1FAC9-3FC7-E1F5-7D08-24AB11626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A6AB1-1755-F2A6-EA85-698A704E8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계층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A4E405-EA0E-ABF4-CA26-A09882094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714877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abstract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rgbClr val="000000"/>
                </a:solidFill>
              </a:rPr>
              <a:t>abstract </a:t>
            </a:r>
            <a:r>
              <a:rPr lang="ko-KR" altLang="en-US" sz="2400" dirty="0">
                <a:solidFill>
                  <a:srgbClr val="000000"/>
                </a:solidFill>
              </a:rPr>
              <a:t>클래스 안의 일반 멤버는 기본적으로 </a:t>
            </a:r>
            <a:r>
              <a:rPr lang="en-US" altLang="ko-KR" sz="2400" dirty="0">
                <a:solidFill>
                  <a:srgbClr val="000000"/>
                </a:solidFill>
              </a:rPr>
              <a:t>final.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재정의만 불가하고 접근 제어자가 추가되면 참조 위치에도 영향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A194EB83-5506-D837-8A2D-A68D0A359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286B44-A067-C8B7-AA55-2E09688694A7}"/>
              </a:ext>
            </a:extLst>
          </p:cNvPr>
          <p:cNvSpPr txBox="1"/>
          <p:nvPr/>
        </p:nvSpPr>
        <p:spPr>
          <a:xfrm>
            <a:off x="6010275" y="674400"/>
            <a:ext cx="6115047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abstract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i="1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Animated</a:t>
            </a:r>
            <a:r>
              <a:rPr lang="ko-KR" altLang="ko-KR" sz="1600" i="1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abstract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animationSpeed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Double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오버라이드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필수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open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frames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60       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오버라이드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자유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keyframes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20         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오버라이드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불가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abstract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animate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         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오버라이드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필수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open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stopAnimating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{}     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오버라이드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자유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animateTwice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{}           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오버라이드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불가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Animation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: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Animated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animationSpeed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Double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200.0</a:t>
            </a:r>
            <a:b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or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...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animationSpeed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Double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200.0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frames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30</a:t>
            </a:r>
            <a:b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keyframes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20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❌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    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animate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/* ... */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stopAnimating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animateTwive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{}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❌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31DFAE-2B84-40C6-3BFC-618DD405AFAF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hierarchy/keywords/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Animated.kt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4382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E9C3-7C7C-4A67-1F45-5F8CD903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2E2039-71E2-7BA6-A1CE-A4B92C83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계층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6B20DC-D1AA-7752-184E-2B105E0F3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714877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접근 </a:t>
            </a:r>
            <a:r>
              <a:rPr lang="ko-KR" altLang="en-US" sz="3200" b="1" dirty="0" err="1">
                <a:latin typeface="+mn-ea"/>
              </a:rPr>
              <a:t>제어자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2400" dirty="0">
                <a:solidFill>
                  <a:srgbClr val="000000"/>
                </a:solidFill>
              </a:rPr>
              <a:t>public: </a:t>
            </a:r>
            <a:r>
              <a:rPr lang="ko-KR" altLang="en-US" sz="2400" dirty="0">
                <a:solidFill>
                  <a:srgbClr val="000000"/>
                </a:solidFill>
              </a:rPr>
              <a:t>전역에서 참조 가능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2400" dirty="0">
                <a:solidFill>
                  <a:srgbClr val="000000"/>
                </a:solidFill>
              </a:rPr>
              <a:t>private: </a:t>
            </a:r>
            <a:r>
              <a:rPr lang="ko-KR" altLang="en-US" sz="2400" dirty="0">
                <a:solidFill>
                  <a:srgbClr val="000000"/>
                </a:solidFill>
              </a:rPr>
              <a:t>파일 내에서 참조 가능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2400" dirty="0">
                <a:solidFill>
                  <a:srgbClr val="000000"/>
                </a:solidFill>
              </a:rPr>
              <a:t>protected: </a:t>
            </a:r>
            <a:r>
              <a:rPr lang="ko-KR" altLang="en-US" sz="2400" dirty="0">
                <a:solidFill>
                  <a:srgbClr val="000000"/>
                </a:solidFill>
              </a:rPr>
              <a:t>본인 및 상속 클래스에서 참조 가능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5CAA4CC7-85A6-25CF-E3AB-C66F85814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9383F3-5912-1762-8F2B-C040688FAAD3}"/>
              </a:ext>
            </a:extLst>
          </p:cNvPr>
          <p:cNvSpPr txBox="1"/>
          <p:nvPr/>
        </p:nvSpPr>
        <p:spPr>
          <a:xfrm>
            <a:off x="6010275" y="1720840"/>
            <a:ext cx="61150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internal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open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TalkativeButton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yell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Hey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!"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protected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whisper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Let's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talk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!"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확장 함수의 범위가 더 넓다면, 컴파일 에러</a:t>
            </a:r>
            <a:b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internal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클래스에게 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public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확장 함수는 에러</a:t>
            </a:r>
            <a:b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/*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internal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*/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TalkativeButton.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giveSpeech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private와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protected는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외부 참조 불가능</a:t>
            </a:r>
            <a:b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yell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whisper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AF8BF5-28D2-22F6-D976-32E18970ABF4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hierarchy/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accessController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TalkativeButton.kt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4686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D774E-2CAD-F935-F1B6-20F8C8F3C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BF44D8-B6AF-4BEF-518E-F1652ACA8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계층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1F6F7-0E2D-90BB-0A17-20BE2C734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714877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internal</a:t>
            </a:r>
          </a:p>
          <a:p>
            <a:pPr>
              <a:lnSpc>
                <a:spcPct val="17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같은 모듈 안에서만 접근 가능</a:t>
            </a:r>
            <a:r>
              <a:rPr lang="en-US" altLang="ko-KR" sz="2400" b="1" dirty="0">
                <a:solidFill>
                  <a:srgbClr val="FF5722"/>
                </a:solidFill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ko-KR" altLang="ko-KR" sz="2400" dirty="0"/>
              <a:t>보안 장벽</a:t>
            </a:r>
            <a:r>
              <a:rPr lang="ko-KR" altLang="en-US" sz="2400" dirty="0"/>
              <a:t>보단 </a:t>
            </a:r>
            <a:r>
              <a:rPr lang="ko-KR" altLang="ko-KR" sz="2400" dirty="0"/>
              <a:t>컴파일 타임 API 경계</a:t>
            </a:r>
            <a:r>
              <a:rPr lang="ko-KR" altLang="en-US" sz="2400" dirty="0"/>
              <a:t>에 가까움</a:t>
            </a:r>
            <a:r>
              <a:rPr lang="en-US" altLang="ko-KR" sz="2400" dirty="0"/>
              <a:t>.</a:t>
            </a:r>
          </a:p>
          <a:p>
            <a:pPr>
              <a:lnSpc>
                <a:spcPct val="170000"/>
              </a:lnSpc>
            </a:pPr>
            <a:r>
              <a:rPr lang="ko-KR" altLang="ko-KR" sz="2400" b="1" dirty="0" err="1">
                <a:solidFill>
                  <a:srgbClr val="FF5722"/>
                </a:solidFill>
              </a:rPr>
              <a:t>Java에서는</a:t>
            </a:r>
            <a:r>
              <a:rPr lang="ko-KR" altLang="ko-KR" sz="2400" b="1" dirty="0">
                <a:solidFill>
                  <a:srgbClr val="FF5722"/>
                </a:solidFill>
              </a:rPr>
              <a:t> 바이트코드 기준으로 </a:t>
            </a:r>
            <a:r>
              <a:rPr lang="ko-KR" altLang="ko-KR" sz="2400" b="1" dirty="0" err="1">
                <a:solidFill>
                  <a:srgbClr val="FF5722"/>
                </a:solidFill>
              </a:rPr>
              <a:t>public처럼</a:t>
            </a:r>
            <a:r>
              <a:rPr lang="ko-KR" altLang="ko-KR" sz="2400" b="1" dirty="0">
                <a:solidFill>
                  <a:srgbClr val="FF5722"/>
                </a:solidFill>
              </a:rPr>
              <a:t> 보일 수 있</a:t>
            </a:r>
            <a:r>
              <a:rPr lang="ko-KR" altLang="en-US" sz="2400" b="1" dirty="0">
                <a:solidFill>
                  <a:srgbClr val="FF5722"/>
                </a:solidFill>
              </a:rPr>
              <a:t>음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DB3FA67A-9135-1B92-FCD9-1DD537A2A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0738D-03FC-4FCF-AB62-BED6A6BBC4EC}"/>
              </a:ext>
            </a:extLst>
          </p:cNvPr>
          <p:cNvSpPr txBox="1"/>
          <p:nvPr/>
        </p:nvSpPr>
        <p:spPr>
          <a:xfrm>
            <a:off x="6010275" y="305068"/>
            <a:ext cx="6115047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internal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open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TalkativeButton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yell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Hey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!"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protected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whisper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Let's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talk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!"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확장 함수의 범위가 더 넓다면, 컴파일 에러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internal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클래스에게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public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확장 함수는 에러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/*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internal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*/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TalkativeButton.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giveSpeech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private와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protected는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외부 참조 불가능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yell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whisper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en-US" altLang="ko-KR" sz="16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endParaRPr lang="en-US" altLang="ko-KR" sz="16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java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package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chapter3.chapter4;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import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kos.chapter4.hierarchy.accessController.TalkativeButton;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public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Test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public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static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void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[] 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args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Java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TalkativeButton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button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new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TalkativeButton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();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1342BB-704B-D690-C657-44F7AED11AD3}"/>
              </a:ext>
            </a:extLst>
          </p:cNvPr>
          <p:cNvSpPr txBox="1"/>
          <p:nvPr/>
        </p:nvSpPr>
        <p:spPr>
          <a:xfrm>
            <a:off x="264816" y="6087844"/>
            <a:ext cx="11746209" cy="64633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chapter3/chapter4/Test.java</a:t>
            </a:r>
          </a:p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chapter4/hierarchy/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accessController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TalkativeButton.kt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8971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32D4B-E0D6-D8ED-B7FA-0D000D021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2E1DED-1342-49C1-845A-40BB69C9F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계층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8C3661-5020-6342-6E88-373B22CEC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67349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내부 클래스와 내포 클래스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7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내부 클래스</a:t>
            </a:r>
            <a:r>
              <a:rPr lang="en-US" altLang="ko-KR" sz="2400" b="1" dirty="0">
                <a:solidFill>
                  <a:srgbClr val="FF5722"/>
                </a:solidFill>
              </a:rPr>
              <a:t>: </a:t>
            </a:r>
            <a:r>
              <a:rPr lang="ko-KR" altLang="en-US" sz="2400" b="1" dirty="0">
                <a:solidFill>
                  <a:srgbClr val="FF5722"/>
                </a:solidFill>
              </a:rPr>
              <a:t>외부 클래스 안에 이름만 들어 있는 클래스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내포 클래스</a:t>
            </a:r>
            <a:r>
              <a:rPr lang="en-US" altLang="ko-KR" sz="2400" b="1" dirty="0">
                <a:solidFill>
                  <a:srgbClr val="FF5722"/>
                </a:solidFill>
              </a:rPr>
              <a:t>: </a:t>
            </a:r>
            <a:r>
              <a:rPr lang="ko-KR" altLang="en-US" sz="2400" b="1" dirty="0">
                <a:solidFill>
                  <a:srgbClr val="FF5722"/>
                </a:solidFill>
              </a:rPr>
              <a:t>외부 객체를 몰래 들고 있는 클래스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880E49E9-1695-A225-D44D-46609B146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6DB9BF-EA02-158B-D8DC-EE80EC86DBFD}"/>
              </a:ext>
            </a:extLst>
          </p:cNvPr>
          <p:cNvSpPr txBox="1"/>
          <p:nvPr/>
        </p:nvSpPr>
        <p:spPr>
          <a:xfrm>
            <a:off x="7191375" y="181958"/>
            <a:ext cx="4257675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Kotlin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Nested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 }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</a:t>
            </a:r>
            <a:r>
              <a:rPr lang="ko-KR" altLang="ko-KR" sz="1600" b="1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@Outer</a:t>
            </a:r>
            <a:br>
              <a:rPr lang="ko-KR" altLang="ko-KR" sz="1600" b="1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b="1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en-US" altLang="ko-KR" sz="16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Java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public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static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Nested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 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this$0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this$0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6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this$0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this$0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return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this$0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  <a:p>
            <a:pPr>
              <a:buNone/>
            </a:pPr>
            <a:endParaRPr lang="ko-KR" altLang="ko-KR" sz="16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CCB611-C0C1-6A35-36D6-1F0CF45E6581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chapter4/hierarchy/inner/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Outer.kt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, Outer.java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957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62037-CAC0-8F4B-F04E-A22C82945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250D8-4E5B-964C-EE59-24DBB5C6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계층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5930E4-55B9-427D-6910-C5537F522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67349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내부 클래스와 내포 클래스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70000"/>
              </a:lnSpc>
            </a:pPr>
            <a:r>
              <a:rPr lang="en-US" altLang="ko-KR" sz="2400" dirty="0">
                <a:solidFill>
                  <a:srgbClr val="000000"/>
                </a:solidFill>
              </a:rPr>
              <a:t>class </a:t>
            </a:r>
            <a:r>
              <a:rPr lang="ko-KR" altLang="en-US" sz="2400" dirty="0">
                <a:solidFill>
                  <a:srgbClr val="000000"/>
                </a:solidFill>
              </a:rPr>
              <a:t>내 일반적인 </a:t>
            </a:r>
            <a:r>
              <a:rPr lang="en-US" altLang="ko-KR" sz="2400" dirty="0">
                <a:solidFill>
                  <a:srgbClr val="000000"/>
                </a:solidFill>
              </a:rPr>
              <a:t>class </a:t>
            </a:r>
            <a:r>
              <a:rPr lang="ko-KR" altLang="en-US" sz="2400" dirty="0">
                <a:solidFill>
                  <a:srgbClr val="000000"/>
                </a:solidFill>
              </a:rPr>
              <a:t>작성은 내포 클래스가 기본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내부 클래스는 메모리 누수나 직렬화 문제 등이 얽히기 쉬워 기본으로 </a:t>
            </a:r>
            <a:r>
              <a:rPr lang="ko-KR" altLang="en-US" sz="2400" b="1" dirty="0" err="1">
                <a:solidFill>
                  <a:srgbClr val="FF5722"/>
                </a:solidFill>
              </a:rPr>
              <a:t>두지않음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3A7BCD0E-214B-E4C3-31B9-194AA5425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4F22CE-B2BB-5C4E-7AA4-B32265A1EFB6}"/>
              </a:ext>
            </a:extLst>
          </p:cNvPr>
          <p:cNvSpPr txBox="1"/>
          <p:nvPr/>
        </p:nvSpPr>
        <p:spPr>
          <a:xfrm>
            <a:off x="6648451" y="674400"/>
            <a:ext cx="554355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Nested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hello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"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$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 </a:t>
            </a:r>
            <a:r>
              <a:rPr lang="ko-KR" altLang="en-US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❌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hello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am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Nested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b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hello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✅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getOuter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</a:t>
            </a:r>
            <a:r>
              <a:rPr lang="ko-KR" altLang="ko-KR" sz="1600" b="1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@Outer</a:t>
            </a:r>
            <a:br>
              <a:rPr lang="ko-KR" altLang="ko-KR" sz="1600" b="1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b="1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✅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nested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Outer.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Nested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✅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Outer.Inner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  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❌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nested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outer.Nested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 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❌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outer.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  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✅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27D20-4F3A-FB73-7966-EC90C884B7AD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chapter4/hierarchy/inner/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Outer.kt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, Outer.java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4100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5253E-9E34-E809-0256-8E7DF0B48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EC924-095D-C6F7-81AC-3D1F8178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계층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20289F-8C51-60DD-D273-989B95F9B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67349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sealed</a:t>
            </a:r>
          </a:p>
          <a:p>
            <a:pPr>
              <a:lnSpc>
                <a:spcPct val="170000"/>
              </a:lnSpc>
            </a:pPr>
            <a:r>
              <a:rPr lang="ko-KR" altLang="ko-KR" sz="2400" b="1" dirty="0">
                <a:solidFill>
                  <a:srgbClr val="FF5722"/>
                </a:solidFill>
              </a:rPr>
              <a:t>다형성의 가능한 경우를 컴파일러가 알 수 있게 만드는 </a:t>
            </a:r>
            <a:r>
              <a:rPr lang="ko-KR" altLang="en-US" sz="2400" b="1" dirty="0">
                <a:solidFill>
                  <a:srgbClr val="FF5722"/>
                </a:solidFill>
              </a:rPr>
              <a:t>키워드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altLang="ko-KR" sz="2400" dirty="0">
                <a:solidFill>
                  <a:srgbClr val="000000"/>
                </a:solidFill>
              </a:rPr>
              <a:t>else</a:t>
            </a:r>
            <a:r>
              <a:rPr lang="ko-KR" altLang="en-US" sz="2400" dirty="0">
                <a:solidFill>
                  <a:srgbClr val="000000"/>
                </a:solidFill>
              </a:rPr>
              <a:t> 분기 없는 </a:t>
            </a:r>
            <a:r>
              <a:rPr lang="en-US" altLang="ko-KR" sz="2400" dirty="0">
                <a:solidFill>
                  <a:srgbClr val="000000"/>
                </a:solidFill>
              </a:rPr>
              <a:t>when </a:t>
            </a:r>
            <a:r>
              <a:rPr lang="ko-KR" altLang="en-US" sz="2400" dirty="0">
                <a:solidFill>
                  <a:srgbClr val="000000"/>
                </a:solidFill>
              </a:rPr>
              <a:t>사용 가능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D2822BF5-0C22-F8BA-878C-6FEFE980B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B6AA40-C445-FF6E-F145-6268E1FCAE6C}"/>
              </a:ext>
            </a:extLst>
          </p:cNvPr>
          <p:cNvSpPr txBox="1"/>
          <p:nvPr/>
        </p:nvSpPr>
        <p:spPr>
          <a:xfrm>
            <a:off x="6724651" y="2274838"/>
            <a:ext cx="546734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sealed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Expr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Num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):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Expr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Sum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left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Expr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right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Expr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):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Expr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eval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Expr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when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Num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-&gt; 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br>
              <a:rPr lang="ko-KR" altLang="ko-KR" sz="16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Sum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-&gt;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eval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right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+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eval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left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6E633E-94F0-AAD0-00B6-5896810BC690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chapter4/hierarchy/sealed/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Expr.kt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4372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816F8-A4AA-235D-64C3-369444565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B1A3DA-1121-58CD-68B8-CCD522A8D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생성자와 프로퍼티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77B5FC-EB9B-2B4F-D5D0-B12EA1025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67349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기본 생성자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7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JVM </a:t>
            </a:r>
            <a:r>
              <a:rPr lang="ko-KR" altLang="en-US" sz="2400" b="1" dirty="0">
                <a:solidFill>
                  <a:srgbClr val="FF5722"/>
                </a:solidFill>
              </a:rPr>
              <a:t>관점에서는 단순히 </a:t>
            </a:r>
            <a:r>
              <a:rPr lang="en-US" altLang="ko-KR" sz="2400" b="1" dirty="0">
                <a:solidFill>
                  <a:srgbClr val="FF5722"/>
                </a:solidFill>
              </a:rPr>
              <a:t>public field</a:t>
            </a:r>
            <a:r>
              <a:rPr lang="ko-KR" altLang="en-US" sz="2400" b="1" dirty="0">
                <a:solidFill>
                  <a:srgbClr val="FF5722"/>
                </a:solidFill>
              </a:rPr>
              <a:t>가 아닌</a:t>
            </a:r>
            <a:r>
              <a:rPr lang="en-US" altLang="ko-KR" sz="2400" b="1" dirty="0">
                <a:solidFill>
                  <a:srgbClr val="FF5722"/>
                </a:solidFill>
              </a:rPr>
              <a:t>,</a:t>
            </a:r>
            <a:r>
              <a:rPr lang="ko-KR" altLang="en-US" sz="2400" b="1" dirty="0">
                <a:solidFill>
                  <a:srgbClr val="FF5722"/>
                </a:solidFill>
              </a:rPr>
              <a:t> </a:t>
            </a:r>
            <a:r>
              <a:rPr lang="en-US" altLang="ko-KR" sz="2400" b="1" dirty="0">
                <a:solidFill>
                  <a:srgbClr val="FF5722"/>
                </a:solidFill>
              </a:rPr>
              <a:t>private field</a:t>
            </a:r>
            <a:r>
              <a:rPr lang="ko-KR" altLang="en-US" sz="2400" b="1" dirty="0">
                <a:solidFill>
                  <a:srgbClr val="FF5722"/>
                </a:solidFill>
              </a:rPr>
              <a:t>와 </a:t>
            </a:r>
            <a:r>
              <a:rPr lang="en-US" altLang="ko-KR" sz="2400" b="1" dirty="0">
                <a:solidFill>
                  <a:srgbClr val="FF5722"/>
                </a:solidFill>
              </a:rPr>
              <a:t>public getter</a:t>
            </a:r>
            <a:r>
              <a:rPr lang="ko-KR" altLang="en-US" sz="2400" b="1" dirty="0">
                <a:solidFill>
                  <a:srgbClr val="FF5722"/>
                </a:solidFill>
              </a:rPr>
              <a:t>에 근접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  <a:endParaRPr lang="en-US" altLang="ko-KR" sz="2400" dirty="0">
              <a:solidFill>
                <a:srgbClr val="000000"/>
              </a:solidFill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91714069-5493-FAC7-0969-28305AEE2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64D9F-2B6D-C22D-A794-D42690A883C5}"/>
              </a:ext>
            </a:extLst>
          </p:cNvPr>
          <p:cNvSpPr txBox="1"/>
          <p:nvPr/>
        </p:nvSpPr>
        <p:spPr>
          <a:xfrm>
            <a:off x="6724651" y="1074510"/>
            <a:ext cx="546734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Kotlin</a:t>
            </a:r>
            <a:b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nickname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endParaRPr lang="en-US" altLang="ko-KR" sz="20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Java</a:t>
            </a:r>
            <a:b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public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nickname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public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nickname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20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nickname</a:t>
            </a:r>
            <a:r>
              <a:rPr lang="ko-KR" altLang="ko-KR" sz="20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ko-KR" altLang="ko-KR" sz="20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nickname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public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getNickname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return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nickname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003F9-4CAE-FE1B-F2D6-20EB956566D1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chapter4/hierarchy/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classAndProperty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User.kt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0566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68B58-B8B2-9D78-C92C-3BDCB304D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734C38-F2A5-9953-B850-28D009C4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생성자와 프로퍼티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B8D42F-BF13-8880-C9A2-C5195B047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67349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주 생성자와 초기화 블록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주 생성자 본문을 가질 수 없고</a:t>
            </a:r>
            <a:r>
              <a:rPr lang="en-US" altLang="ko-KR" sz="2400" b="1" dirty="0">
                <a:solidFill>
                  <a:srgbClr val="FF5722"/>
                </a:solidFill>
              </a:rPr>
              <a:t>, </a:t>
            </a:r>
            <a:r>
              <a:rPr lang="ko-KR" altLang="en-US" sz="2400" b="1" dirty="0">
                <a:solidFill>
                  <a:srgbClr val="FF5722"/>
                </a:solidFill>
              </a:rPr>
              <a:t>초기화 로직은 </a:t>
            </a:r>
            <a:r>
              <a:rPr lang="en-US" altLang="ko-KR" sz="2400" b="1" dirty="0" err="1">
                <a:solidFill>
                  <a:srgbClr val="FF5722"/>
                </a:solidFill>
              </a:rPr>
              <a:t>init</a:t>
            </a:r>
            <a:r>
              <a:rPr lang="en-US" altLang="ko-KR" sz="2400" b="1" dirty="0">
                <a:solidFill>
                  <a:srgbClr val="FF5722"/>
                </a:solidFill>
              </a:rPr>
              <a:t> </a:t>
            </a:r>
            <a:r>
              <a:rPr lang="ko-KR" altLang="en-US" sz="2400" b="1" dirty="0">
                <a:solidFill>
                  <a:srgbClr val="FF5722"/>
                </a:solidFill>
              </a:rPr>
              <a:t>블록으로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객체 생성은 대략 메모리 할당 → 상위 클래스 생성자 호출 → 프로퍼티 초기화식과 </a:t>
            </a:r>
            <a:r>
              <a:rPr lang="en-US" altLang="ko-KR" sz="2400" dirty="0" err="1">
                <a:solidFill>
                  <a:srgbClr val="000000"/>
                </a:solidFill>
              </a:rPr>
              <a:t>init</a:t>
            </a:r>
            <a:r>
              <a:rPr lang="en-US" altLang="ko-KR" sz="2400" dirty="0">
                <a:solidFill>
                  <a:srgbClr val="000000"/>
                </a:solidFill>
              </a:rPr>
              <a:t> </a:t>
            </a:r>
            <a:r>
              <a:rPr lang="ko-KR" altLang="en-US" sz="2400" dirty="0">
                <a:solidFill>
                  <a:srgbClr val="000000"/>
                </a:solidFill>
              </a:rPr>
              <a:t>블록 실행 → 생성자 종료 순서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하위 클래스 초기화가 끝나기 전에 하위 구현이 호출될 수 있기 때문에 </a:t>
            </a:r>
            <a:r>
              <a:rPr lang="ko-KR" altLang="en-US" sz="2400" b="1" dirty="0">
                <a:solidFill>
                  <a:srgbClr val="FF5722"/>
                </a:solidFill>
              </a:rPr>
              <a:t>생성자에서 </a:t>
            </a:r>
            <a:r>
              <a:rPr lang="en-US" altLang="ko-KR" sz="2400" b="1" dirty="0">
                <a:solidFill>
                  <a:srgbClr val="FF5722"/>
                </a:solidFill>
              </a:rPr>
              <a:t>open </a:t>
            </a:r>
            <a:r>
              <a:rPr lang="ko-KR" altLang="en-US" sz="2400" b="1" dirty="0">
                <a:solidFill>
                  <a:srgbClr val="FF5722"/>
                </a:solidFill>
              </a:rPr>
              <a:t>멤버를 호출하는 건 위험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468C00CB-AD1B-7767-487D-64AA1DB74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D6803F-1066-55AD-86D8-0F84357DAEBA}"/>
              </a:ext>
            </a:extLst>
          </p:cNvPr>
          <p:cNvSpPr txBox="1"/>
          <p:nvPr/>
        </p:nvSpPr>
        <p:spPr>
          <a:xfrm>
            <a:off x="6219825" y="1659285"/>
            <a:ext cx="597217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constructor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_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nickname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주 생성자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nickname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var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age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30</a:t>
            </a:r>
            <a:b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b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부 생성자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constructor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age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: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age</a:t>
            </a:r>
            <a:r>
              <a:rPr lang="ko-KR" altLang="ko-KR" sz="16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age</a:t>
            </a:r>
            <a:b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초기화 블록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init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nickname</a:t>
            </a:r>
            <a:r>
              <a:rPr lang="ko-KR" altLang="ko-KR" sz="16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_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nickname</a:t>
            </a:r>
            <a:b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0B7C0A-3552-DC91-3D7B-7E1391577967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chapter4/hierarchy/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classAndProperty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User.kt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1892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CA914-46AE-2B32-9CF0-9644A4CE2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FC737-F0DD-FE16-3E7B-2C69D3F5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생성자와 프로퍼티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38D502-706F-CC33-F601-CC1CF72AE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67349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프로퍼티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field:</a:t>
            </a:r>
            <a:r>
              <a:rPr lang="ko-KR" altLang="en-US" sz="2400" b="1" dirty="0" err="1">
                <a:solidFill>
                  <a:srgbClr val="FF5722"/>
                </a:solidFill>
              </a:rPr>
              <a:t>접근자</a:t>
            </a:r>
            <a:r>
              <a:rPr lang="ko-KR" altLang="en-US" sz="2400" b="1" dirty="0">
                <a:solidFill>
                  <a:srgbClr val="FF5722"/>
                </a:solidFill>
              </a:rPr>
              <a:t> 안에서만 쓸 수 있는 특별 식별자</a:t>
            </a:r>
            <a:r>
              <a:rPr lang="en-US" altLang="ko-KR" sz="2400" b="1" dirty="0">
                <a:solidFill>
                  <a:srgbClr val="FF5722"/>
                </a:solidFill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getter</a:t>
            </a:r>
            <a:r>
              <a:rPr lang="ko-KR" altLang="en-US" sz="2400" b="1" dirty="0">
                <a:solidFill>
                  <a:srgbClr val="FF5722"/>
                </a:solidFill>
              </a:rPr>
              <a:t>나 </a:t>
            </a:r>
            <a:r>
              <a:rPr lang="en-US" altLang="ko-KR" sz="2400" b="1" dirty="0">
                <a:solidFill>
                  <a:srgbClr val="FF5722"/>
                </a:solidFill>
              </a:rPr>
              <a:t>setter</a:t>
            </a:r>
            <a:r>
              <a:rPr lang="ko-KR" altLang="en-US" sz="2400" b="1" dirty="0">
                <a:solidFill>
                  <a:srgbClr val="FF5722"/>
                </a:solidFill>
              </a:rPr>
              <a:t>가 </a:t>
            </a:r>
            <a:r>
              <a:rPr lang="en-US" altLang="ko-KR" sz="2400" b="1" dirty="0">
                <a:solidFill>
                  <a:srgbClr val="FF5722"/>
                </a:solidFill>
              </a:rPr>
              <a:t>field</a:t>
            </a:r>
            <a:r>
              <a:rPr lang="ko-KR" altLang="en-US" sz="2400" b="1" dirty="0">
                <a:solidFill>
                  <a:srgbClr val="FF5722"/>
                </a:solidFill>
              </a:rPr>
              <a:t>를 사용하면 컴파일러가 </a:t>
            </a:r>
            <a:r>
              <a:rPr lang="en-US" altLang="ko-KR" sz="2400" b="1" dirty="0">
                <a:solidFill>
                  <a:srgbClr val="FF5722"/>
                </a:solidFill>
              </a:rPr>
              <a:t>backing field</a:t>
            </a:r>
            <a:r>
              <a:rPr lang="ko-KR" altLang="en-US" sz="2400" b="1" dirty="0">
                <a:solidFill>
                  <a:srgbClr val="FF5722"/>
                </a:solidFill>
              </a:rPr>
              <a:t>를 만들고</a:t>
            </a:r>
            <a:r>
              <a:rPr lang="en-US" altLang="ko-KR" sz="2400" b="1" dirty="0">
                <a:solidFill>
                  <a:srgbClr val="FF5722"/>
                </a:solidFill>
              </a:rPr>
              <a:t>, </a:t>
            </a:r>
            <a:r>
              <a:rPr lang="ko-KR" altLang="en-US" sz="2400" b="1" dirty="0">
                <a:solidFill>
                  <a:srgbClr val="FF5722"/>
                </a:solidFill>
              </a:rPr>
              <a:t>사용하지 않으면 없음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ageIn2050</a:t>
            </a:r>
            <a:r>
              <a:rPr lang="ko-KR" altLang="en-US" sz="2400" b="1" dirty="0">
                <a:solidFill>
                  <a:srgbClr val="FF5722"/>
                </a:solidFill>
              </a:rPr>
              <a:t>은 저장 공간이 아닌</a:t>
            </a:r>
            <a:r>
              <a:rPr lang="en-US" altLang="ko-KR" sz="2400" b="1" dirty="0">
                <a:solidFill>
                  <a:srgbClr val="FF5722"/>
                </a:solidFill>
              </a:rPr>
              <a:t>, </a:t>
            </a:r>
            <a:r>
              <a:rPr lang="ko-KR" altLang="en-US" sz="2400" b="1" dirty="0">
                <a:solidFill>
                  <a:srgbClr val="FF5722"/>
                </a:solidFill>
              </a:rPr>
              <a:t>읽고 쓸 때 계산되는 논리적 프로퍼티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B5A86811-23A7-A07F-000F-1373F2272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7607C0-787D-0F05-9D76-E0AB7D4C15DE}"/>
              </a:ext>
            </a:extLst>
          </p:cNvPr>
          <p:cNvSpPr txBox="1"/>
          <p:nvPr/>
        </p:nvSpPr>
        <p:spPr>
          <a:xfrm>
            <a:off x="6219825" y="1659285"/>
            <a:ext cx="597217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constructor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_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nickname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주 생성자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nickname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var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age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30</a:t>
            </a:r>
            <a:b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b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부 생성자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constructor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age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: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age</a:t>
            </a:r>
            <a:r>
              <a:rPr lang="ko-KR" altLang="ko-KR" sz="16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age</a:t>
            </a:r>
            <a:b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초기화 블록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init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nickname</a:t>
            </a:r>
            <a:r>
              <a:rPr lang="ko-KR" altLang="ko-KR" sz="16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_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nickname</a:t>
            </a:r>
            <a:b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BE8E5-F19F-805E-E06A-2D125EE5C867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chapter4/hierarchy/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classAndProperty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User.kt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3753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6A841-7CA3-6E96-E2E6-CE80FD0C6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6E17C-42AA-B0DF-778C-D1B24065B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클래스와 위임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5DEEDA-04FE-3CA6-1B9F-ACF8EAC5B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67349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data class</a:t>
            </a:r>
            <a:endParaRPr lang="ko-KR" altLang="en-US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자바에선 직접 </a:t>
            </a:r>
            <a:r>
              <a:rPr lang="ko-KR" altLang="en-US" sz="2400" b="1" dirty="0" err="1">
                <a:solidFill>
                  <a:srgbClr val="FF5722"/>
                </a:solidFill>
              </a:rPr>
              <a:t>오버라이드</a:t>
            </a:r>
            <a:r>
              <a:rPr lang="ko-KR" altLang="en-US" sz="2400" b="1" dirty="0">
                <a:solidFill>
                  <a:srgbClr val="FF5722"/>
                </a:solidFill>
              </a:rPr>
              <a:t> </a:t>
            </a:r>
            <a:r>
              <a:rPr lang="ko-KR" altLang="en-US" sz="2400" b="1" dirty="0" err="1">
                <a:solidFill>
                  <a:srgbClr val="FF5722"/>
                </a:solidFill>
              </a:rPr>
              <a:t>해야하는</a:t>
            </a:r>
            <a:r>
              <a:rPr lang="en-US" altLang="ko-KR" sz="2400" b="1" dirty="0" err="1">
                <a:solidFill>
                  <a:srgbClr val="FF5722"/>
                </a:solidFill>
              </a:rPr>
              <a:t>toString</a:t>
            </a:r>
            <a:r>
              <a:rPr lang="en-US" altLang="ko-KR" sz="2400" b="1" dirty="0">
                <a:solidFill>
                  <a:srgbClr val="FF5722"/>
                </a:solidFill>
              </a:rPr>
              <a:t>, equals, </a:t>
            </a:r>
            <a:r>
              <a:rPr lang="en-US" altLang="ko-KR" sz="2400" b="1" dirty="0" err="1">
                <a:solidFill>
                  <a:srgbClr val="FF5722"/>
                </a:solidFill>
              </a:rPr>
              <a:t>hashCode</a:t>
            </a:r>
            <a:r>
              <a:rPr lang="en-US" altLang="ko-KR" sz="2400" b="1" dirty="0">
                <a:solidFill>
                  <a:srgbClr val="FF5722"/>
                </a:solidFill>
              </a:rPr>
              <a:t> </a:t>
            </a:r>
            <a:r>
              <a:rPr lang="ko-KR" altLang="en-US" sz="2400" b="1" dirty="0">
                <a:solidFill>
                  <a:srgbClr val="FF5722"/>
                </a:solidFill>
              </a:rPr>
              <a:t>등 편의를 위한 함수를 </a:t>
            </a:r>
            <a:r>
              <a:rPr lang="en-US" altLang="ko-KR" sz="2400" b="1" dirty="0">
                <a:solidFill>
                  <a:srgbClr val="FF5722"/>
                </a:solidFill>
              </a:rPr>
              <a:t>data </a:t>
            </a:r>
            <a:r>
              <a:rPr lang="ko-KR" altLang="en-US" sz="2400" b="1" dirty="0">
                <a:solidFill>
                  <a:srgbClr val="FF5722"/>
                </a:solidFill>
              </a:rPr>
              <a:t>키워드로 정의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equals</a:t>
            </a:r>
            <a:r>
              <a:rPr lang="ko-KR" altLang="en-US" sz="2400" b="1" dirty="0">
                <a:solidFill>
                  <a:srgbClr val="FF5722"/>
                </a:solidFill>
              </a:rPr>
              <a:t>와 </a:t>
            </a:r>
            <a:r>
              <a:rPr lang="en-US" altLang="ko-KR" sz="2400" b="1" dirty="0" err="1">
                <a:solidFill>
                  <a:srgbClr val="FF5722"/>
                </a:solidFill>
              </a:rPr>
              <a:t>hashCode</a:t>
            </a:r>
            <a:r>
              <a:rPr lang="ko-KR" altLang="en-US" sz="2400" b="1" dirty="0">
                <a:solidFill>
                  <a:srgbClr val="FF5722"/>
                </a:solidFill>
              </a:rPr>
              <a:t>는 주 생성자에 있는 프로퍼티만 확인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endParaRPr lang="en-US" altLang="ko-KR" sz="2400" b="1" dirty="0">
              <a:solidFill>
                <a:srgbClr val="FF5722"/>
              </a:solidFill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F7DB59EB-DFEF-0E84-AA70-0FE8FC076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5F836-ACB2-CBAD-D9DF-646C4BF17441}"/>
              </a:ext>
            </a:extLst>
          </p:cNvPr>
          <p:cNvSpPr txBox="1"/>
          <p:nvPr/>
        </p:nvSpPr>
        <p:spPr>
          <a:xfrm>
            <a:off x="6724651" y="258902"/>
            <a:ext cx="5467349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data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Customer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var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postalCode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4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11521</a:t>
            </a:r>
            <a:br>
              <a:rPr lang="ko-KR" altLang="ko-KR" sz="14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constructor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postalCode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):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this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4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postalCode</a:t>
            </a:r>
            <a:r>
              <a:rPr lang="ko-KR" altLang="ko-KR" sz="14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ko-KR" altLang="ko-KR" sz="1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postalCode</a:t>
            </a:r>
            <a:br>
              <a:rPr lang="ko-KR" altLang="ko-KR" sz="14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c1 =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Customer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4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Sam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c2 =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Customer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4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Mart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4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15500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c3 =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Customer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4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Sam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4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15500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(c1)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Customer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Sam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postalCode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=11521)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(c1 == c2)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(c1.equals(c2))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//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false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(c1 == c3)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true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(c1.</a:t>
            </a:r>
            <a:r>
              <a:rPr lang="ko-KR" altLang="ko-KR" sz="14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hashCode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2580770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(c3.</a:t>
            </a:r>
            <a:r>
              <a:rPr lang="ko-KR" altLang="ko-KR" sz="14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hashCode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2580770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(c1 === c2)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false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(c1 === c3)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false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6F4345-F57F-C1F6-C47A-C52E8D4601FC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chapter4/hierarchy/data/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Customer.kt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9277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C5009-619B-1142-49DB-597AB8413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38AAE-EE75-4FEC-BF07-68F30EDC6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클래스와 위임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0F3A92-322D-93B0-A1B8-D893F9CEC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67349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data class</a:t>
            </a:r>
            <a:endParaRPr lang="ko-KR" altLang="en-US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copy()</a:t>
            </a:r>
            <a:r>
              <a:rPr lang="ko-KR" altLang="en-US" sz="2400" b="1" dirty="0">
                <a:solidFill>
                  <a:srgbClr val="FF5722"/>
                </a:solidFill>
              </a:rPr>
              <a:t>는 새 객체를 만들지만 내부 참조까지 재귀적으로 복사하지 않는</a:t>
            </a:r>
            <a:r>
              <a:rPr lang="en-US" altLang="ko-KR" sz="2400" b="1" dirty="0">
                <a:solidFill>
                  <a:srgbClr val="FF5722"/>
                </a:solidFill>
              </a:rPr>
              <a:t>shallow copy. 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그래서 </a:t>
            </a:r>
            <a:r>
              <a:rPr lang="en-US" altLang="ko-KR" sz="2400" dirty="0">
                <a:solidFill>
                  <a:srgbClr val="000000"/>
                </a:solidFill>
              </a:rPr>
              <a:t>data class</a:t>
            </a:r>
            <a:r>
              <a:rPr lang="ko-KR" altLang="en-US" sz="2400" dirty="0">
                <a:solidFill>
                  <a:srgbClr val="000000"/>
                </a:solidFill>
              </a:rPr>
              <a:t>를 진짜 값 객체처럼 쓰려면 내부 프로퍼티도 불변에 가깝게 설계해야 하는 것을 권장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5262120A-4D1E-01A6-747C-8E94010AE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A0BF2-7E62-212E-3BF9-690BF7A24371}"/>
              </a:ext>
            </a:extLst>
          </p:cNvPr>
          <p:cNvSpPr txBox="1"/>
          <p:nvPr/>
        </p:nvSpPr>
        <p:spPr>
          <a:xfrm>
            <a:off x="6724651" y="1690063"/>
            <a:ext cx="546734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data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Team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var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t1 =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Team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jm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t2 = t1.</a:t>
            </a:r>
            <a:r>
              <a:rPr lang="ko-KR" altLang="ko-KR" sz="20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copy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 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t2.</a:t>
            </a:r>
            <a:r>
              <a:rPr lang="ko-KR" altLang="ko-KR" sz="20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20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Jmin</a:t>
            </a: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b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(t1.</a:t>
            </a:r>
            <a:r>
              <a:rPr lang="ko-KR" altLang="ko-KR" sz="20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name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//.</a:t>
            </a:r>
            <a:r>
              <a:rPr lang="ko-KR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copy를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지운다면, t1.name 또한 </a:t>
            </a:r>
            <a:r>
              <a:rPr lang="ko-KR" altLang="ko-KR" sz="20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Jmin</a:t>
            </a:r>
            <a:b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2C5BF-058A-91F6-B30A-759ACB6999B4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chapter4/hierarchy/data/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copy.kt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2683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3DF94-6A6F-E2A6-47BB-C43CF6AE0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0491A8-B701-662C-B036-6EAFD0B5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클래스와 위임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5C787-18D3-6E9B-6949-A43BCADA7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67349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위임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미리 구현된 코드를 위임을 통해 직접적인 작성 없이 재사용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컴파일러가 나머지 메서드를 자동 생성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 err="1">
                <a:solidFill>
                  <a:srgbClr val="000000"/>
                </a:solidFill>
              </a:rPr>
              <a:t>오버라이딩을</a:t>
            </a:r>
            <a:r>
              <a:rPr lang="ko-KR" altLang="en-US" sz="2400" dirty="0">
                <a:solidFill>
                  <a:srgbClr val="000000"/>
                </a:solidFill>
              </a:rPr>
              <a:t> 시도했다면</a:t>
            </a:r>
            <a:r>
              <a:rPr lang="en-US" altLang="ko-KR" sz="2400" dirty="0">
                <a:solidFill>
                  <a:srgbClr val="000000"/>
                </a:solidFill>
              </a:rPr>
              <a:t> </a:t>
            </a:r>
            <a:r>
              <a:rPr lang="ko-KR" altLang="en-US" sz="2400" dirty="0" err="1">
                <a:solidFill>
                  <a:srgbClr val="000000"/>
                </a:solidFill>
              </a:rPr>
              <a:t>오버라이드된</a:t>
            </a:r>
            <a:r>
              <a:rPr lang="ko-KR" altLang="en-US" sz="2400" dirty="0">
                <a:solidFill>
                  <a:srgbClr val="000000"/>
                </a:solidFill>
              </a:rPr>
              <a:t> 코드가 실행됨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B5C949DF-E12C-D753-E5F0-CAB83BB8C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D6523C-C7A6-0284-9822-86E0FCFF64C3}"/>
              </a:ext>
            </a:extLst>
          </p:cNvPr>
          <p:cNvSpPr txBox="1"/>
          <p:nvPr/>
        </p:nvSpPr>
        <p:spPr>
          <a:xfrm>
            <a:off x="6305551" y="1166843"/>
            <a:ext cx="58864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DelegatingCollection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 :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Collection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innerList</a:t>
            </a:r>
            <a:r>
              <a:rPr lang="ko-KR" altLang="ko-KR" sz="16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arrayListOf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&gt;()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size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innerList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size</a:t>
            </a:r>
            <a:br>
              <a:rPr lang="ko-KR" altLang="ko-KR" sz="16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isEmpty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innerList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isEmpty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contains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element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=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innerList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contains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element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iterator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innerList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iterator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containsAll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elements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Collection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&gt;) =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innerList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containsAll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elements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❌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DelegatingCollection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&gt;(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innerList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Collection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 =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mutableListOf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: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Collection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by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innerList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✅</a:t>
            </a:r>
            <a:endParaRPr lang="ko-KR" altLang="ko-KR" sz="16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B67433-98BF-A52F-B4DC-E73A7F6B21EE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chapter4/delegation/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Delegation.kt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4656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2E47C-54F4-BF46-65A5-A17384BF7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BAD39-71C7-559D-BAE0-228A64B70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3CCE7-1924-A69E-0E0F-D06A4C8B9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67349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object</a:t>
            </a:r>
            <a:endParaRPr lang="ko-KR" altLang="en-US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object</a:t>
            </a:r>
            <a:r>
              <a:rPr lang="ko-KR" altLang="en-US" sz="2400" b="1" dirty="0">
                <a:solidFill>
                  <a:srgbClr val="FF5722"/>
                </a:solidFill>
              </a:rPr>
              <a:t>는 </a:t>
            </a:r>
            <a:r>
              <a:rPr lang="en-US" altLang="ko-KR" sz="2400" b="1" dirty="0">
                <a:solidFill>
                  <a:srgbClr val="FF5722"/>
                </a:solidFill>
              </a:rPr>
              <a:t>singleton, companion, anonymous object</a:t>
            </a:r>
            <a:r>
              <a:rPr lang="ko-KR" altLang="en-US" sz="2400" b="1" dirty="0">
                <a:solidFill>
                  <a:srgbClr val="FF5722"/>
                </a:solidFill>
              </a:rPr>
              <a:t>를 모두 포괄하는 키워드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rgbClr val="000000"/>
                </a:solidFill>
              </a:rPr>
              <a:t>JVM</a:t>
            </a:r>
            <a:r>
              <a:rPr lang="ko-KR" altLang="en-US" sz="2400" dirty="0">
                <a:solidFill>
                  <a:srgbClr val="000000"/>
                </a:solidFill>
              </a:rPr>
              <a:t>에서는 대략 </a:t>
            </a:r>
            <a:r>
              <a:rPr lang="en-US" altLang="ko-KR" sz="2400" dirty="0">
                <a:solidFill>
                  <a:srgbClr val="000000"/>
                </a:solidFill>
              </a:rPr>
              <a:t>Payroll </a:t>
            </a:r>
            <a:r>
              <a:rPr lang="ko-KR" altLang="en-US" sz="2400" dirty="0">
                <a:solidFill>
                  <a:srgbClr val="000000"/>
                </a:solidFill>
              </a:rPr>
              <a:t>클래스와 정적 </a:t>
            </a:r>
            <a:r>
              <a:rPr lang="en-US" altLang="ko-KR" sz="2400" dirty="0">
                <a:solidFill>
                  <a:srgbClr val="000000"/>
                </a:solidFill>
              </a:rPr>
              <a:t>INSTANCE </a:t>
            </a:r>
            <a:r>
              <a:rPr lang="ko-KR" altLang="en-US" sz="2400" dirty="0">
                <a:solidFill>
                  <a:srgbClr val="000000"/>
                </a:solidFill>
              </a:rPr>
              <a:t>필드가 생성됨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즉</a:t>
            </a:r>
            <a:r>
              <a:rPr lang="en-US" altLang="ko-KR" sz="2400" dirty="0">
                <a:solidFill>
                  <a:srgbClr val="000000"/>
                </a:solidFill>
              </a:rPr>
              <a:t>, </a:t>
            </a:r>
            <a:r>
              <a:rPr lang="ko-KR" altLang="en-US" sz="2400" b="1" dirty="0">
                <a:solidFill>
                  <a:srgbClr val="FF5722"/>
                </a:solidFill>
              </a:rPr>
              <a:t>자기 인스턴스를 내부적으로 갖게 됨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C28F3F2B-FDDE-A354-B660-D25BD90A4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DE591-A754-F65C-BDFA-E2943B835F7D}"/>
              </a:ext>
            </a:extLst>
          </p:cNvPr>
          <p:cNvSpPr txBox="1"/>
          <p:nvPr/>
        </p:nvSpPr>
        <p:spPr>
          <a:xfrm>
            <a:off x="6305551" y="1382286"/>
            <a:ext cx="588645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object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Payroll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allEmployees</a:t>
            </a:r>
            <a:r>
              <a:rPr lang="ko-KR" altLang="ko-KR" sz="20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arrayListOf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&gt;()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calculateSalary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person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allEmployees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/* ... */</a:t>
            </a:r>
            <a:b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20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(){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20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Payroll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20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/*INSTANCE.*/</a:t>
            </a:r>
            <a:r>
              <a:rPr lang="ko-KR" altLang="ko-KR" sz="20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calculateSalary</a:t>
            </a: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20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71717B-3CC3-5FE7-6624-9870DD668D8F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chapter4/hierarchy/data/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copy.kt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4797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72E2B-02B8-14BE-4A6E-E12B9D23E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B18719-2C4F-32B6-51BA-09DBAF053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D4D4C3-4749-38D1-A508-A2F794546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67349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companion object</a:t>
            </a:r>
            <a:endParaRPr lang="ko-KR" altLang="en-US" sz="32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Java</a:t>
            </a:r>
            <a:r>
              <a:rPr lang="ko-KR" altLang="en-US" sz="2400" b="1" dirty="0">
                <a:solidFill>
                  <a:srgbClr val="FF5722"/>
                </a:solidFill>
              </a:rPr>
              <a:t>의 </a:t>
            </a:r>
            <a:r>
              <a:rPr lang="en-US" altLang="ko-KR" sz="2400" b="1" dirty="0">
                <a:solidFill>
                  <a:srgbClr val="FF5722"/>
                </a:solidFill>
              </a:rPr>
              <a:t>static</a:t>
            </a:r>
            <a:r>
              <a:rPr lang="ko-KR" altLang="en-US" sz="2400" b="1" dirty="0">
                <a:solidFill>
                  <a:srgbClr val="FF5722"/>
                </a:solidFill>
              </a:rPr>
              <a:t> 같은 존재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2400" dirty="0">
                <a:solidFill>
                  <a:srgbClr val="000000"/>
                </a:solidFill>
              </a:rPr>
              <a:t>Companion</a:t>
            </a:r>
            <a:r>
              <a:rPr lang="ko-KR" altLang="en-US" sz="2400" dirty="0">
                <a:solidFill>
                  <a:srgbClr val="000000"/>
                </a:solidFill>
              </a:rPr>
              <a:t>이란 </a:t>
            </a:r>
            <a:r>
              <a:rPr lang="ko-KR" altLang="en-US" sz="2400" dirty="0" err="1">
                <a:solidFill>
                  <a:srgbClr val="000000"/>
                </a:solidFill>
              </a:rPr>
              <a:t>싱글톤</a:t>
            </a:r>
            <a:r>
              <a:rPr lang="ko-KR" altLang="en-US" sz="2400" dirty="0">
                <a:solidFill>
                  <a:srgbClr val="000000"/>
                </a:solidFill>
              </a:rPr>
              <a:t> 객체를 멤버로 지니게 되고</a:t>
            </a:r>
            <a:r>
              <a:rPr lang="en-US" altLang="ko-KR" sz="2400" dirty="0">
                <a:solidFill>
                  <a:srgbClr val="000000"/>
                </a:solidFill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</a:rPr>
              <a:t>그를 통해 참조 가능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  <a:endParaRPr lang="en-US" altLang="ko-KR" sz="2400" b="1" dirty="0">
              <a:solidFill>
                <a:srgbClr val="FF5722"/>
              </a:solidFill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B228C491-0F61-FF89-9B97-EEEC459BE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112F48-C95B-9B67-358B-200378635107}"/>
              </a:ext>
            </a:extLst>
          </p:cNvPr>
          <p:cNvSpPr txBox="1"/>
          <p:nvPr/>
        </p:nvSpPr>
        <p:spPr>
          <a:xfrm>
            <a:off x="6305551" y="2028617"/>
            <a:ext cx="588645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constructor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nickname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companion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object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newSubscribingUser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email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email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substringBefore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'@'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/*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Companion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.*/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newSubscribingUser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bob@mail.com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companion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User.Companion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companion.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newSubscribingUser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bob@mail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5E75FF-A21B-7398-56AF-114F402672F8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chapter4/hierarchy/data/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copy.kt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3553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A6D0A-E31B-FA2A-ED20-E69A94E9A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12D6FE-6E98-9AF5-46DC-5AF176F69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2E91E3-B455-C886-C048-AAD66DC33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67349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object expression</a:t>
            </a:r>
            <a:endParaRPr lang="ko-KR" altLang="en-US" sz="32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Java</a:t>
            </a:r>
            <a:r>
              <a:rPr lang="ko-KR" altLang="en-US" sz="2400" b="1" dirty="0">
                <a:solidFill>
                  <a:srgbClr val="FF5722"/>
                </a:solidFill>
              </a:rPr>
              <a:t>의 익명 객체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ko-KR" altLang="ko-KR" sz="2400" dirty="0" err="1"/>
              <a:t>final</a:t>
            </a:r>
            <a:r>
              <a:rPr lang="ko-KR" altLang="en-US" sz="2400" dirty="0" err="1"/>
              <a:t>인</a:t>
            </a:r>
            <a:r>
              <a:rPr lang="ko-KR" altLang="en-US" sz="2400" dirty="0"/>
              <a:t> </a:t>
            </a:r>
            <a:r>
              <a:rPr lang="ko-KR" altLang="ko-KR" sz="2400" dirty="0" err="1"/>
              <a:t>mutable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variable</a:t>
            </a:r>
            <a:r>
              <a:rPr lang="en-US" altLang="ko-KR" sz="2400" dirty="0"/>
              <a:t> </a:t>
            </a:r>
            <a:r>
              <a:rPr lang="ko-KR" altLang="en-US" sz="2400" dirty="0"/>
              <a:t>캡쳐 가능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2400" dirty="0">
                <a:solidFill>
                  <a:srgbClr val="000000"/>
                </a:solidFill>
              </a:rPr>
              <a:t>Ref </a:t>
            </a:r>
            <a:r>
              <a:rPr lang="ko-KR" altLang="en-US" sz="2400" dirty="0">
                <a:solidFill>
                  <a:srgbClr val="000000"/>
                </a:solidFill>
              </a:rPr>
              <a:t>같은 </a:t>
            </a:r>
            <a:r>
              <a:rPr lang="ko-KR" altLang="ko-KR" sz="2400" dirty="0"/>
              <a:t>박스 객체를 만들어서</a:t>
            </a:r>
            <a:r>
              <a:rPr lang="en-US" altLang="ko-KR" sz="2400" dirty="0"/>
              <a:t> </a:t>
            </a:r>
            <a:r>
              <a:rPr lang="ko-KR" altLang="ko-KR" sz="2400" dirty="0"/>
              <a:t>그 안의 값을 바꾸는 식으로 구현</a:t>
            </a:r>
            <a:r>
              <a:rPr lang="ko-KR" altLang="en-US" sz="2400" dirty="0"/>
              <a:t>됨</a:t>
            </a:r>
            <a:r>
              <a:rPr lang="en-US" altLang="ko-KR" sz="2400" dirty="0"/>
              <a:t>.</a:t>
            </a:r>
            <a:endParaRPr lang="en-US" altLang="ko-KR" sz="2400" dirty="0">
              <a:solidFill>
                <a:srgbClr val="000000"/>
              </a:solidFill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FFFDEA72-D9C2-D779-41C9-FE448EAF5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67717-B6AB-5109-5788-5E7AB3C1CAF5}"/>
              </a:ext>
            </a:extLst>
          </p:cNvPr>
          <p:cNvSpPr txBox="1"/>
          <p:nvPr/>
        </p:nvSpPr>
        <p:spPr>
          <a:xfrm>
            <a:off x="7058025" y="551289"/>
            <a:ext cx="5133976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interface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onClick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onEnter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var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clickCount</a:t>
            </a:r>
            <a:r>
              <a:rPr lang="ko-KR" altLang="ko-KR" sz="1600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</a:t>
            </a:r>
            <a:b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listener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object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</a:t>
            </a:r>
            <a:r>
              <a:rPr lang="ko-KR" altLang="ko-KR" sz="16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onClick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clickCount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++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onEnter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clickCount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*=</a:t>
            </a: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b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clickCount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listener.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onClick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clickCount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listener.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onEnter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clickCount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E69A4A-6E68-7D05-0AE0-031A133B1CF0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chapter4/hierarchy/data/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copy.kt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4648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9F386-F3B7-5388-6079-7336FD2E7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CBB99F-88E2-63E5-7086-2494DB65A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인라인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8A0C0E-72A4-7029-D35B-75BBDA6CA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562599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value class</a:t>
            </a:r>
            <a:endParaRPr lang="ko-KR" altLang="en-US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ko-KR" sz="2400" dirty="0"/>
              <a:t>주 생성자에 있는 </a:t>
            </a:r>
            <a:r>
              <a:rPr lang="ko-KR" altLang="ko-KR" sz="2400" b="1" dirty="0">
                <a:solidFill>
                  <a:srgbClr val="FF5722"/>
                </a:solidFill>
              </a:rPr>
              <a:t>단 하나의 프로퍼티를 감싸는 타입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 marL="228600" indent="-228600" algn="l" rtl="0" eaLnBrk="1" latinLnBrk="1" hangingPunct="1">
              <a:lnSpc>
                <a:spcPct val="150000"/>
              </a:lnSpc>
              <a:spcBef>
                <a:spcPts val="1000"/>
              </a:spcBef>
              <a:buClrTx/>
              <a:buSzPts val="2400"/>
              <a:buFont typeface="Arial" panose="020B0604020202020204" pitchFamily="34" charset="0"/>
              <a:buChar char="•"/>
            </a:pPr>
            <a:r>
              <a:rPr lang="ko-KR" altLang="ko-KR" sz="2400" kern="1200" dirty="0">
                <a:solidFill>
                  <a:srgbClr val="212121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멤버에 접근할 때</a:t>
            </a:r>
            <a:r>
              <a:rPr lang="en-US" altLang="ko-KR" sz="2400" kern="1200" dirty="0">
                <a:solidFill>
                  <a:srgbClr val="212121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, </a:t>
            </a:r>
            <a:r>
              <a:rPr lang="ko-KR" altLang="ko-KR" sz="2400" b="1" kern="1200" dirty="0" err="1">
                <a:solidFill>
                  <a:srgbClr val="FF5722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접근자</a:t>
            </a:r>
            <a:r>
              <a:rPr lang="ko-KR" altLang="ko-KR" sz="2400" b="1" kern="1200" dirty="0">
                <a:solidFill>
                  <a:srgbClr val="FF5722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 메소드를 사용하지 않고 직접 값에 접근하는 방식</a:t>
            </a:r>
            <a:r>
              <a:rPr lang="en-US" altLang="ko-KR" sz="2400" b="1" kern="1200" dirty="0">
                <a:solidFill>
                  <a:srgbClr val="FF5722"/>
                </a:solidFill>
                <a:effectLst/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  <a:cs typeface="+mn-cs"/>
              </a:rPr>
              <a:t>.</a:t>
            </a:r>
            <a:endParaRPr lang="ko-KR" altLang="ko-KR" sz="2400" dirty="0">
              <a:effectLst/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C13E7474-597D-8344-C124-700919BDD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4F5CD-1C62-5AA8-2AF4-110FEE3FE494}"/>
              </a:ext>
            </a:extLst>
          </p:cNvPr>
          <p:cNvSpPr txBox="1"/>
          <p:nvPr/>
        </p:nvSpPr>
        <p:spPr>
          <a:xfrm>
            <a:off x="6305550" y="1767007"/>
            <a:ext cx="588645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400" dirty="0">
                <a:solidFill>
                  <a:srgbClr val="9E880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@JvmInline</a:t>
            </a:r>
            <a:br>
              <a:rPr lang="ko-KR" altLang="ko-KR" sz="1400" dirty="0">
                <a:solidFill>
                  <a:srgbClr val="9E880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Long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: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PrettyPrintable</a:t>
            </a:r>
            <a:r>
              <a:rPr lang="ko-KR" altLang="ko-KR" sz="1400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init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require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4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 </a:t>
            </a:r>
            <a:r>
              <a:rPr lang="ko-KR" altLang="ko-KR" sz="14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 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4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UserId는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양수여야 합니다." 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class는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추가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backing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field를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가질 수 없다.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// 따라서 이런 프로퍼티는 저장 필드가 아니라 계산 프로퍼티다.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storageKey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4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</a:t>
            </a:r>
            <a:r>
              <a:rPr lang="ko-KR" altLang="ko-KR" sz="14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ko-KR" altLang="ko-KR" sz="14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b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pretty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(): 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4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#</a:t>
            </a:r>
            <a:r>
              <a:rPr lang="ko-KR" altLang="ko-KR" sz="14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ko-KR" altLang="ko-KR" sz="14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b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toString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(): 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4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ko-KR" altLang="ko-KR" sz="14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)"</a:t>
            </a:r>
            <a:b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42EDDB-AA1D-1E39-28D6-7F5A258F268F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chapter4/value/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valueClass.kt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0244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69A04-64E2-FBBC-C388-427667C6C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4C4767-F98A-4FBD-C7B7-5495C8313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인라인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AE5BBF-2C05-CAC1-A2E3-BD8DA8288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5657848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value class</a:t>
            </a:r>
            <a:endParaRPr lang="ko-KR" altLang="en-US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런타임 객체를 최대한 만들지 않고도 의미 있는 타입을 추가하기 위한 기능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ko-KR" sz="2400" dirty="0"/>
              <a:t>컴파일러가 최적화 가능</a:t>
            </a:r>
            <a:r>
              <a:rPr lang="ko-KR" altLang="en-US" sz="2400" dirty="0"/>
              <a:t>하면</a:t>
            </a:r>
            <a:r>
              <a:rPr lang="en-US" altLang="ko-KR" sz="2400" dirty="0">
                <a:solidFill>
                  <a:srgbClr val="000000"/>
                </a:solidFill>
              </a:rPr>
              <a:t>, unboxed.</a:t>
            </a:r>
          </a:p>
          <a:p>
            <a:pPr>
              <a:lnSpc>
                <a:spcPct val="150000"/>
              </a:lnSpc>
            </a:pPr>
            <a:r>
              <a:rPr lang="ko-KR" altLang="ko-KR" sz="2400" b="1" dirty="0" err="1">
                <a:solidFill>
                  <a:srgbClr val="FF5722"/>
                </a:solidFill>
              </a:rPr>
              <a:t>Any</a:t>
            </a:r>
            <a:r>
              <a:rPr lang="ko-KR" altLang="ko-KR" sz="2400" b="1" dirty="0">
                <a:solidFill>
                  <a:srgbClr val="FF5722"/>
                </a:solidFill>
              </a:rPr>
              <a:t>, </a:t>
            </a:r>
            <a:r>
              <a:rPr lang="ko-KR" altLang="ko-KR" sz="2400" b="1" dirty="0" err="1">
                <a:solidFill>
                  <a:srgbClr val="FF5722"/>
                </a:solidFill>
              </a:rPr>
              <a:t>generic</a:t>
            </a:r>
            <a:r>
              <a:rPr lang="ko-KR" altLang="ko-KR" sz="2400" b="1" dirty="0">
                <a:solidFill>
                  <a:srgbClr val="FF5722"/>
                </a:solidFill>
              </a:rPr>
              <a:t>, </a:t>
            </a:r>
            <a:r>
              <a:rPr lang="ko-KR" altLang="ko-KR" sz="2400" b="1" dirty="0" err="1">
                <a:solidFill>
                  <a:srgbClr val="FF5722"/>
                </a:solidFill>
              </a:rPr>
              <a:t>interface</a:t>
            </a:r>
            <a:r>
              <a:rPr lang="ko-KR" altLang="ko-KR" sz="2400" b="1" dirty="0">
                <a:solidFill>
                  <a:srgbClr val="FF5722"/>
                </a:solidFill>
              </a:rPr>
              <a:t>, </a:t>
            </a:r>
            <a:r>
              <a:rPr lang="ko-KR" altLang="ko-KR" sz="2400" b="1" dirty="0" err="1">
                <a:solidFill>
                  <a:srgbClr val="FF5722"/>
                </a:solidFill>
              </a:rPr>
              <a:t>nullable</a:t>
            </a:r>
            <a:r>
              <a:rPr lang="ko-KR" altLang="ko-KR" sz="2400" b="1" dirty="0">
                <a:solidFill>
                  <a:srgbClr val="FF5722"/>
                </a:solidFill>
              </a:rPr>
              <a:t> 등으로 다뤄야 하</a:t>
            </a:r>
            <a:r>
              <a:rPr lang="ko-KR" altLang="en-US" sz="2400" b="1" dirty="0">
                <a:solidFill>
                  <a:srgbClr val="FF5722"/>
                </a:solidFill>
              </a:rPr>
              <a:t>면</a:t>
            </a:r>
            <a:r>
              <a:rPr lang="en-US" altLang="ko-KR" sz="2400" b="1" dirty="0">
                <a:solidFill>
                  <a:srgbClr val="FF5722"/>
                </a:solidFill>
              </a:rPr>
              <a:t>, wrapper boxing.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977137A8-1E45-7A04-596E-1EA091B2C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ED7E86-6DD9-1656-DB41-78CD8CBE6FA5}"/>
              </a:ext>
            </a:extLst>
          </p:cNvPr>
          <p:cNvSpPr txBox="1"/>
          <p:nvPr/>
        </p:nvSpPr>
        <p:spPr>
          <a:xfrm>
            <a:off x="6096000" y="2090172"/>
            <a:ext cx="609600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/**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* 정확히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타입으로 받는다.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*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* 이런 경우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JVM에서는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가능한 한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wrapper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객체를 만들지 않고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* 내부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Long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값으로 처리할 수 있다.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*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* 단, 여기서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id.javaClass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같은 걸 찍으려고 하면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* 그 관찰 자체가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boxing을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유발할 수 있으므로 하지 않는다.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*/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acceptExactUserId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"정확한 </a:t>
            </a:r>
            <a:r>
              <a:rPr lang="ko-KR" altLang="ko-KR" sz="14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UserId로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받음: </a:t>
            </a:r>
            <a:r>
              <a:rPr lang="ko-KR" altLang="ko-KR" sz="14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ko-KR" altLang="ko-KR" sz="1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4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4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DB5FAA-5502-E73A-DA1B-2011E5DCB3BD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chapter4/value/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valueClass.kt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1944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E357C-DBE1-4C2E-9DFF-18BA8CBB0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D854CF-5AE8-FF61-D213-8707E8CC1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인라인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96FE5A-E6E2-2BA0-4620-B690BE46D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5657848" cy="4908550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1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 value class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나눔스퀘어라운드OTF Regular"/>
              <a:ea typeface="나눔스퀘어라운드OTF Regular"/>
              <a:cs typeface="+mn-cs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컴파일 전 즉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,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컴파일러 시점으론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boxing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된 상태로 바라봄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.</a:t>
            </a: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5722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unboxed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5722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최적화가 일어난다면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5722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,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5722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 컴파일 이후 런타임의 관점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5722"/>
                </a:solidFill>
                <a:effectLst/>
                <a:uLnTx/>
                <a:uFillTx/>
                <a:latin typeface="나눔스퀘어라운드OTF Regular"/>
                <a:ea typeface="나눔스퀘어라운드OTF Regular"/>
                <a:cs typeface="+mn-cs"/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76DFB072-A8CD-D774-488A-19C7B2B56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834AB5-C5BA-F586-65B9-93964E7C114C}"/>
              </a:ext>
            </a:extLst>
          </p:cNvPr>
          <p:cNvSpPr txBox="1"/>
          <p:nvPr/>
        </p:nvSpPr>
        <p:spPr>
          <a:xfrm>
            <a:off x="6410325" y="428179"/>
            <a:ext cx="578167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200" dirty="0">
                <a:solidFill>
                  <a:srgbClr val="9E880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@JvmInline</a:t>
            </a:r>
            <a:br>
              <a:rPr lang="ko-KR" altLang="ko-KR" sz="1200" dirty="0">
                <a:solidFill>
                  <a:srgbClr val="9E880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2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2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2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2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2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Long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2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init</a:t>
            </a:r>
            <a:r>
              <a:rPr lang="ko-KR" altLang="ko-KR" sz="12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2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require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2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2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 </a:t>
            </a:r>
            <a:r>
              <a:rPr lang="ko-KR" altLang="ko-KR" sz="12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 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2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FolderId는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양수여야 합니다." 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2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2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2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toString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(): </a:t>
            </a:r>
            <a:r>
              <a:rPr lang="ko-KR" altLang="ko-KR" sz="12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2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2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ko-KR" altLang="ko-KR" sz="12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)"</a:t>
            </a:r>
            <a:b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9E880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@JvmInline</a:t>
            </a:r>
            <a:br>
              <a:rPr lang="ko-KR" altLang="ko-KR" sz="1200" dirty="0">
                <a:solidFill>
                  <a:srgbClr val="9E880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2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2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LinkId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2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2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2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Long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2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init</a:t>
            </a:r>
            <a:r>
              <a:rPr lang="ko-KR" altLang="ko-KR" sz="12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2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require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2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200" dirty="0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 </a:t>
            </a:r>
            <a:r>
              <a:rPr lang="ko-KR" altLang="ko-KR" sz="12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 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2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LinkId는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양수여야 합니다." 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2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override</a:t>
            </a:r>
            <a:r>
              <a:rPr lang="ko-KR" altLang="ko-KR" sz="12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2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toString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(): </a:t>
            </a:r>
            <a:r>
              <a:rPr lang="ko-KR" altLang="ko-KR" sz="12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String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2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LinkId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2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ko-KR" altLang="ko-KR" sz="12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)"</a:t>
            </a:r>
            <a:b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en-US" altLang="ko-KR" sz="12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endParaRPr lang="en-US" altLang="ko-KR" sz="12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r>
              <a:rPr lang="ko-KR" altLang="ko-KR" sz="12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</a:t>
            </a:r>
            <a:r>
              <a:rPr lang="ko-KR" altLang="ko-KR" sz="12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Repository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2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2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findUser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2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2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2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"사용자 조회: </a:t>
            </a:r>
            <a:r>
              <a:rPr lang="ko-KR" altLang="ko-KR" sz="12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ko-KR" altLang="ko-KR" sz="12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</a:t>
            </a:r>
            <a:r>
              <a:rPr lang="ko-KR" altLang="ko-KR" sz="12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2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2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2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2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openFolder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2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2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2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"폴더 열기: </a:t>
            </a:r>
            <a:r>
              <a:rPr lang="ko-KR" altLang="ko-KR" sz="12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ko-KR" altLang="ko-KR" sz="12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</a:t>
            </a:r>
            <a:r>
              <a:rPr lang="ko-KR" altLang="ko-KR" sz="12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2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2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2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2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moveLink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2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linkId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2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LinkId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2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targetFolderId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2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ko-KR" altLang="ko-KR" sz="12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"링크 이동: </a:t>
            </a:r>
            <a:r>
              <a:rPr lang="ko-KR" altLang="ko-KR" sz="12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link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sz="12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ko-KR" altLang="ko-KR" sz="12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linkId</a:t>
            </a:r>
            <a:r>
              <a:rPr lang="ko-KR" altLang="ko-KR" sz="12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2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2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2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targetFolder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sz="12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ko-KR" altLang="ko-KR" sz="12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targetFolderId</a:t>
            </a:r>
            <a:r>
              <a:rPr lang="ko-KR" altLang="ko-KR" sz="12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200" dirty="0" err="1">
                <a:solidFill>
                  <a:srgbClr val="B4505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2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ko-KR" altLang="ko-KR" sz="12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2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64A77-BA6D-871C-DED7-2E1FD9EBA3E2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chapter4/value/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valueClass.kt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0287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CAA3F-8534-981F-AD39-05D5D8E0E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10AF7-B01C-7F5B-A3B9-69FEFC551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인라인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C0EE66-DA01-17A6-1144-09339B8A6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5657848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value class</a:t>
            </a:r>
            <a:endParaRPr lang="ko-KR" altLang="en-US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컴파일 전 즉</a:t>
            </a:r>
            <a:r>
              <a:rPr lang="en-US" altLang="ko-KR" sz="2400" dirty="0">
                <a:solidFill>
                  <a:srgbClr val="000000"/>
                </a:solidFill>
              </a:rPr>
              <a:t>, </a:t>
            </a:r>
            <a:r>
              <a:rPr lang="ko-KR" altLang="en-US" sz="2400" b="1" dirty="0">
                <a:solidFill>
                  <a:srgbClr val="FF5722"/>
                </a:solidFill>
              </a:rPr>
              <a:t>컴파일러 시점으론 </a:t>
            </a:r>
            <a:r>
              <a:rPr lang="en-US" altLang="ko-KR" sz="2400" b="1" dirty="0">
                <a:solidFill>
                  <a:srgbClr val="FF5722"/>
                </a:solidFill>
              </a:rPr>
              <a:t>boxing </a:t>
            </a:r>
            <a:r>
              <a:rPr lang="ko-KR" altLang="en-US" sz="2400" b="1" dirty="0">
                <a:solidFill>
                  <a:srgbClr val="FF5722"/>
                </a:solidFill>
              </a:rPr>
              <a:t>된 상태로 바라봄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unboxed </a:t>
            </a:r>
            <a:r>
              <a:rPr lang="ko-KR" altLang="en-US" sz="2400" b="1" dirty="0">
                <a:solidFill>
                  <a:srgbClr val="FF5722"/>
                </a:solidFill>
              </a:rPr>
              <a:t>최적화가 일어난다면</a:t>
            </a:r>
            <a:r>
              <a:rPr lang="en-US" altLang="ko-KR" sz="2400" b="1" dirty="0">
                <a:solidFill>
                  <a:srgbClr val="FF5722"/>
                </a:solidFill>
              </a:rPr>
              <a:t>,</a:t>
            </a:r>
            <a:r>
              <a:rPr lang="ko-KR" altLang="en-US" sz="2400" b="1" dirty="0">
                <a:solidFill>
                  <a:srgbClr val="FF5722"/>
                </a:solidFill>
              </a:rPr>
              <a:t> 컴파일 이후 런타임의 관점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341F5948-0F59-2FA4-F2F6-D6187FEC3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320BD-5F7F-4680-6437-9FA3A3F2229C}"/>
              </a:ext>
            </a:extLst>
          </p:cNvPr>
          <p:cNvSpPr txBox="1"/>
          <p:nvPr/>
        </p:nvSpPr>
        <p:spPr>
          <a:xfrm>
            <a:off x="6410325" y="1120676"/>
            <a:ext cx="578167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repository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Repository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1001L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2001L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linkId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=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LinkId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3001L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repository.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findUser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repository.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openFolder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repository.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moveLink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linkId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내부 값은 모두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Long이지만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타입이 다르기 때문에 섞을 수 없다.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아래 코드는 컴파일 오류다.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repository.findUser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오류: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Required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Found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repository.openFolder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오류: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Required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Found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repository.moveLink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linkId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오류: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Required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LinkId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순서인데 반대로 넣음</a:t>
            </a:r>
            <a:endParaRPr lang="ko-KR" altLang="ko-KR" sz="14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3B5F5E-9FBD-2694-D115-ED4E4672BAB1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chapter4/value/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valueClass.kt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6341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19A91-98A0-D21D-38F9-5969E1EDC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45746-9921-0BB1-A1E3-864989F1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인라인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2C1FE0-15D0-F5D3-238A-59AB940FB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5657848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nullable</a:t>
            </a:r>
            <a:endParaRPr lang="ko-KR" altLang="en-US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rgbClr val="000000"/>
                </a:solidFill>
              </a:rPr>
              <a:t>Long </a:t>
            </a:r>
            <a:r>
              <a:rPr lang="ko-KR" altLang="en-US" sz="2400" dirty="0">
                <a:solidFill>
                  <a:srgbClr val="000000"/>
                </a:solidFill>
              </a:rPr>
              <a:t>기본 자료형</a:t>
            </a:r>
            <a:r>
              <a:rPr lang="en-US" altLang="ko-KR" sz="2400" dirty="0">
                <a:solidFill>
                  <a:srgbClr val="000000"/>
                </a:solidFill>
              </a:rPr>
              <a:t> </a:t>
            </a:r>
            <a:r>
              <a:rPr lang="ko-KR" altLang="en-US" sz="2400" dirty="0">
                <a:solidFill>
                  <a:srgbClr val="000000"/>
                </a:solidFill>
              </a:rPr>
              <a:t>하나만으로는 </a:t>
            </a:r>
            <a:r>
              <a:rPr lang="en-US" altLang="ko-KR" sz="2400" dirty="0">
                <a:solidFill>
                  <a:srgbClr val="000000"/>
                </a:solidFill>
              </a:rPr>
              <a:t>null</a:t>
            </a:r>
            <a:r>
              <a:rPr lang="ko-KR" altLang="en-US" sz="2400" dirty="0">
                <a:solidFill>
                  <a:srgbClr val="000000"/>
                </a:solidFill>
              </a:rPr>
              <a:t>을 표현할 수 없으므로 </a:t>
            </a:r>
            <a:r>
              <a:rPr lang="en-US" altLang="ko-KR" sz="2400" b="1" dirty="0">
                <a:solidFill>
                  <a:srgbClr val="FF5722"/>
                </a:solidFill>
              </a:rPr>
              <a:t>nullable value class</a:t>
            </a:r>
            <a:r>
              <a:rPr lang="ko-KR" altLang="en-US" sz="2400" b="1" dirty="0">
                <a:solidFill>
                  <a:srgbClr val="FF5722"/>
                </a:solidFill>
              </a:rPr>
              <a:t>는 </a:t>
            </a:r>
            <a:r>
              <a:rPr lang="en-US" altLang="ko-KR" sz="2400" b="1" dirty="0">
                <a:solidFill>
                  <a:srgbClr val="FF5722"/>
                </a:solidFill>
              </a:rPr>
              <a:t>boxed </a:t>
            </a:r>
            <a:r>
              <a:rPr lang="ko-KR" altLang="en-US" sz="2400" b="1" dirty="0">
                <a:solidFill>
                  <a:srgbClr val="FF5722"/>
                </a:solidFill>
              </a:rPr>
              <a:t>표현이 필요할 수 있다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273F4AF1-1223-38EA-7409-050A149DD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34BC9-C96D-E4DF-94CA-0EE76F2B30C5}"/>
              </a:ext>
            </a:extLst>
          </p:cNvPr>
          <p:cNvSpPr txBox="1"/>
          <p:nvPr/>
        </p:nvSpPr>
        <p:spPr>
          <a:xfrm>
            <a:off x="6762750" y="2151728"/>
            <a:ext cx="539115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6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acceptNullableUserId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?) {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nullable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UserId로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받음: 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sz="16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6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runtime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sz="16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runtimeTypeOf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r>
              <a:rPr lang="ko-KR" altLang="ko-KR" sz="16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ko-KR" altLang="ko-KR" sz="16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en-US" altLang="ko-KR" sz="16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endParaRPr lang="en-US" altLang="ko-KR" sz="16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acceptNullableUserId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acceptNullableUserId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6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null</a:t>
            </a:r>
            <a: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6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nullable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UserId로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받음: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(1001),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runtime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=kos.chapter4.value.UserId</a:t>
            </a:r>
            <a:b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nullable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UserId로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받음: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null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runtime</a:t>
            </a:r>
            <a:r>
              <a:rPr lang="ko-KR" altLang="ko-KR" sz="16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sz="16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null</a:t>
            </a:r>
            <a:endParaRPr lang="ko-KR" altLang="ko-KR" sz="16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87C364-0D24-75EA-1353-C314B43BCB54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chapter4/value/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valueClass.kt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2787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34C5B-4D0B-C5DF-CCA1-5AA56747B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90D40F-8774-5A53-616F-76F3EF97F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인라인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F5BD6B-41DC-66AB-AE84-7FAAB124F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5657848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제네릭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rgbClr val="000000"/>
                </a:solidFill>
              </a:rPr>
              <a:t>T </a:t>
            </a:r>
            <a:r>
              <a:rPr lang="ko-KR" altLang="en-US" sz="2400" dirty="0">
                <a:solidFill>
                  <a:srgbClr val="000000"/>
                </a:solidFill>
              </a:rPr>
              <a:t>자리에는 </a:t>
            </a:r>
            <a:r>
              <a:rPr lang="en-US" altLang="ko-KR" sz="2400" dirty="0" err="1">
                <a:solidFill>
                  <a:srgbClr val="000000"/>
                </a:solidFill>
              </a:rPr>
              <a:t>UserId</a:t>
            </a:r>
            <a:r>
              <a:rPr lang="en-US" altLang="ko-KR" sz="2400" dirty="0">
                <a:solidFill>
                  <a:srgbClr val="000000"/>
                </a:solidFill>
              </a:rPr>
              <a:t>, String, Int, </a:t>
            </a:r>
            <a:r>
              <a:rPr lang="ko-KR" altLang="en-US" sz="2400" dirty="0">
                <a:solidFill>
                  <a:srgbClr val="000000"/>
                </a:solidFill>
              </a:rPr>
              <a:t>다른 객체가 모두 들어올 수 있다</a:t>
            </a:r>
            <a:r>
              <a:rPr lang="en-US" altLang="ko-KR" sz="2400" dirty="0">
                <a:solidFill>
                  <a:srgbClr val="000000"/>
                </a:solidFill>
              </a:rPr>
              <a:t>. </a:t>
            </a:r>
            <a:r>
              <a:rPr lang="ko-KR" altLang="en-US" sz="2400" b="1" dirty="0">
                <a:solidFill>
                  <a:srgbClr val="FF5722"/>
                </a:solidFill>
              </a:rPr>
              <a:t>제네릭은 보통 </a:t>
            </a:r>
            <a:r>
              <a:rPr lang="en-US" altLang="ko-KR" sz="2400" b="1" dirty="0">
                <a:solidFill>
                  <a:srgbClr val="FF5722"/>
                </a:solidFill>
              </a:rPr>
              <a:t>Object </a:t>
            </a:r>
            <a:r>
              <a:rPr lang="ko-KR" altLang="en-US" sz="2400" b="1" dirty="0">
                <a:solidFill>
                  <a:srgbClr val="FF5722"/>
                </a:solidFill>
              </a:rPr>
              <a:t>기반으로 동작하므로 </a:t>
            </a:r>
            <a:r>
              <a:rPr lang="en-US" altLang="ko-KR" sz="2400" b="1" dirty="0">
                <a:solidFill>
                  <a:srgbClr val="FF5722"/>
                </a:solidFill>
              </a:rPr>
              <a:t>value class</a:t>
            </a:r>
            <a:r>
              <a:rPr lang="ko-KR" altLang="en-US" sz="2400" b="1" dirty="0">
                <a:solidFill>
                  <a:srgbClr val="FF5722"/>
                </a:solidFill>
              </a:rPr>
              <a:t>가 </a:t>
            </a:r>
            <a:r>
              <a:rPr lang="en-US" altLang="ko-KR" sz="2400" b="1" dirty="0">
                <a:solidFill>
                  <a:srgbClr val="FF5722"/>
                </a:solidFill>
              </a:rPr>
              <a:t>boxed</a:t>
            </a:r>
            <a:r>
              <a:rPr lang="ko-KR" altLang="en-US" sz="2400" b="1" dirty="0">
                <a:solidFill>
                  <a:srgbClr val="FF5722"/>
                </a:solidFill>
              </a:rPr>
              <a:t>될 수 있다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131BECD1-C552-D3F1-EED9-00E9D735F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9EB0E-3289-8572-F27A-DD2E834E519E}"/>
              </a:ext>
            </a:extLst>
          </p:cNvPr>
          <p:cNvSpPr txBox="1"/>
          <p:nvPr/>
        </p:nvSpPr>
        <p:spPr>
          <a:xfrm>
            <a:off x="6800850" y="2136339"/>
            <a:ext cx="539115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acceptGeneric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):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</a:t>
            </a:r>
            <a:r>
              <a:rPr lang="ko-KR" altLang="ko-KR" dirty="0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generic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T로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받음: </a:t>
            </a:r>
            <a:r>
              <a:rPr lang="ko-KR" altLang="ko-KR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ko-KR" altLang="ko-KR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runtime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runtimeTypeOf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r>
              <a:rPr lang="ko-KR" altLang="ko-KR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return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br>
              <a:rPr lang="ko-KR" altLang="ko-KR" dirty="0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en-US" altLang="ko-KR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acceptGeneric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generic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T로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받음: 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(1001), 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runtime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=kos.chapter4.value.UserId</a:t>
            </a:r>
            <a:endParaRPr lang="ko-KR" altLang="ko-KR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9CC684-3112-E900-108D-3008B0BE5FF6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chapter4/value/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valueClass.kt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45974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555FE-70DE-F2AC-9D6D-550D274D4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85BE9-9F1E-B01F-23B4-5FC7CFB18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인라인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D5E7FC-A5D0-1331-5A02-298A243DF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5257798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interface</a:t>
            </a:r>
            <a:endParaRPr lang="ko-KR" altLang="en-US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 err="1">
                <a:solidFill>
                  <a:srgbClr val="000000"/>
                </a:solidFill>
              </a:rPr>
              <a:t>UserId</a:t>
            </a:r>
            <a:r>
              <a:rPr lang="ko-KR" altLang="en-US" sz="2400" dirty="0">
                <a:solidFill>
                  <a:srgbClr val="000000"/>
                </a:solidFill>
              </a:rPr>
              <a:t>의 내부 값 </a:t>
            </a:r>
            <a:r>
              <a:rPr lang="en-US" altLang="ko-KR" sz="2400" dirty="0">
                <a:solidFill>
                  <a:srgbClr val="000000"/>
                </a:solidFill>
              </a:rPr>
              <a:t>Long </a:t>
            </a:r>
            <a:r>
              <a:rPr lang="ko-KR" altLang="en-US" sz="2400" dirty="0">
                <a:solidFill>
                  <a:srgbClr val="000000"/>
                </a:solidFill>
              </a:rPr>
              <a:t>자체는 </a:t>
            </a:r>
            <a:r>
              <a:rPr lang="en-US" altLang="ko-KR" sz="2400" dirty="0">
                <a:solidFill>
                  <a:srgbClr val="000000"/>
                </a:solidFill>
              </a:rPr>
              <a:t>interface</a:t>
            </a:r>
            <a:r>
              <a:rPr lang="ko-KR" altLang="en-US" sz="2400" dirty="0">
                <a:solidFill>
                  <a:srgbClr val="000000"/>
                </a:solidFill>
              </a:rPr>
              <a:t>를 구현할 수 없다</a:t>
            </a:r>
            <a:r>
              <a:rPr lang="en-US" altLang="ko-KR" sz="2400" dirty="0">
                <a:solidFill>
                  <a:srgbClr val="000000"/>
                </a:solidFill>
              </a:rPr>
              <a:t>. </a:t>
            </a:r>
            <a:r>
              <a:rPr lang="en-US" altLang="ko-KR" sz="2400" b="1" dirty="0">
                <a:solidFill>
                  <a:srgbClr val="FF5722"/>
                </a:solidFill>
              </a:rPr>
              <a:t>interface</a:t>
            </a:r>
            <a:r>
              <a:rPr lang="ko-KR" altLang="en-US" sz="2400" b="1" dirty="0">
                <a:solidFill>
                  <a:srgbClr val="FF5722"/>
                </a:solidFill>
              </a:rPr>
              <a:t>로 </a:t>
            </a:r>
            <a:r>
              <a:rPr lang="en-US" altLang="ko-KR" sz="2400" b="1" dirty="0">
                <a:solidFill>
                  <a:srgbClr val="FF5722"/>
                </a:solidFill>
              </a:rPr>
              <a:t>dispatch</a:t>
            </a:r>
            <a:r>
              <a:rPr lang="ko-KR" altLang="en-US" sz="2400" b="1" dirty="0">
                <a:solidFill>
                  <a:srgbClr val="FF5722"/>
                </a:solidFill>
              </a:rPr>
              <a:t>하려면 </a:t>
            </a:r>
            <a:r>
              <a:rPr lang="en-US" altLang="ko-KR" sz="2400" b="1" dirty="0">
                <a:solidFill>
                  <a:srgbClr val="FF5722"/>
                </a:solidFill>
              </a:rPr>
              <a:t>wrapper </a:t>
            </a:r>
            <a:r>
              <a:rPr lang="ko-KR" altLang="en-US" sz="2400" b="1" dirty="0">
                <a:solidFill>
                  <a:srgbClr val="FF5722"/>
                </a:solidFill>
              </a:rPr>
              <a:t>객체가 필요할 수 있다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F06317DD-BAED-E101-B3CB-FD9A3D911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30DE2C-6A55-0048-767B-BD60E6B74476}"/>
              </a:ext>
            </a:extLst>
          </p:cNvPr>
          <p:cNvSpPr txBox="1"/>
          <p:nvPr/>
        </p:nvSpPr>
        <p:spPr>
          <a:xfrm>
            <a:off x="5915026" y="2628781"/>
            <a:ext cx="597217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400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sz="1400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acceptPrettyPrintable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PrettyPrintable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4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interface로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받음: </a:t>
            </a:r>
            <a:r>
              <a:rPr lang="ko-KR" altLang="ko-KR" sz="14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ko-KR" altLang="ko-KR" sz="1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pretty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r>
              <a:rPr lang="ko-KR" altLang="ko-KR" sz="14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sz="1400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runtime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sz="14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runtimeTypeOf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r>
              <a:rPr lang="ko-KR" altLang="ko-KR" sz="1400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ko-KR" altLang="ko-KR" sz="1400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en-US" altLang="ko-KR" sz="14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r>
              <a:rPr lang="ko-KR" altLang="ko-KR" sz="1400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acceptPrettyPrintable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sz="1400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interface로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받음: User#1001, </a:t>
            </a:r>
            <a:r>
              <a:rPr lang="ko-KR" altLang="ko-KR" sz="1400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runtime</a:t>
            </a:r>
            <a:r>
              <a:rPr lang="ko-KR" altLang="ko-KR" sz="1400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=kos.chapter4.value.UserId</a:t>
            </a:r>
            <a:endParaRPr lang="ko-KR" altLang="ko-KR" sz="14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endParaRPr lang="ko-KR" altLang="ko-KR" sz="1400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910ABF-B7C5-FA65-E318-3AB5CEDA36CC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chapter4/value/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valueClass.kt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1787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4E3F0-0C85-FDD9-3C0F-FE5B73A61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508E0-1216-3C92-74D5-166CAB94F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인라인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87473B-0B93-AA87-F6A0-2D5B2A8A6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5257798" cy="49085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>
                <a:latin typeface="+mn-ea"/>
              </a:rPr>
              <a:t> Any</a:t>
            </a:r>
            <a:endParaRPr lang="ko-KR" altLang="en-US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rgbClr val="000000"/>
                </a:solidFill>
              </a:rPr>
              <a:t>Any</a:t>
            </a:r>
            <a:r>
              <a:rPr lang="ko-KR" altLang="en-US" sz="2400" dirty="0">
                <a:solidFill>
                  <a:srgbClr val="000000"/>
                </a:solidFill>
              </a:rPr>
              <a:t>는 </a:t>
            </a:r>
            <a:r>
              <a:rPr lang="en-US" altLang="ko-KR" sz="2400" dirty="0">
                <a:solidFill>
                  <a:srgbClr val="000000"/>
                </a:solidFill>
              </a:rPr>
              <a:t>Kotlin</a:t>
            </a:r>
            <a:r>
              <a:rPr lang="ko-KR" altLang="en-US" sz="2400" dirty="0">
                <a:solidFill>
                  <a:srgbClr val="000000"/>
                </a:solidFill>
              </a:rPr>
              <a:t>의 최상위 타입이고 </a:t>
            </a:r>
            <a:r>
              <a:rPr lang="en-US" altLang="ko-KR" sz="2400" dirty="0">
                <a:solidFill>
                  <a:srgbClr val="000000"/>
                </a:solidFill>
              </a:rPr>
              <a:t>Java</a:t>
            </a:r>
            <a:r>
              <a:rPr lang="ko-KR" altLang="en-US" sz="2400" dirty="0">
                <a:solidFill>
                  <a:srgbClr val="000000"/>
                </a:solidFill>
              </a:rPr>
              <a:t>에서는 </a:t>
            </a:r>
            <a:r>
              <a:rPr lang="en-US" altLang="ko-KR" sz="2400" dirty="0">
                <a:solidFill>
                  <a:srgbClr val="000000"/>
                </a:solidFill>
              </a:rPr>
              <a:t>Object</a:t>
            </a:r>
            <a:r>
              <a:rPr lang="ko-KR" altLang="en-US" sz="2400" dirty="0">
                <a:solidFill>
                  <a:srgbClr val="000000"/>
                </a:solidFill>
              </a:rPr>
              <a:t>에 가깝다</a:t>
            </a:r>
            <a:r>
              <a:rPr lang="en-US" altLang="ko-KR" sz="2400" dirty="0">
                <a:solidFill>
                  <a:srgbClr val="000000"/>
                </a:solidFill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내부 값이 모두 비슷해 보여도 </a:t>
            </a:r>
            <a:r>
              <a:rPr lang="en-US" altLang="ko-KR" sz="2400" b="1" dirty="0">
                <a:solidFill>
                  <a:srgbClr val="FF5722"/>
                </a:solidFill>
              </a:rPr>
              <a:t>Any</a:t>
            </a:r>
            <a:r>
              <a:rPr lang="ko-KR" altLang="en-US" sz="2400" b="1" dirty="0">
                <a:solidFill>
                  <a:srgbClr val="FF5722"/>
                </a:solidFill>
              </a:rPr>
              <a:t>로 들어간 뒤에는 런타임에서 타입을 구분할 수 있어야 한다</a:t>
            </a:r>
            <a:r>
              <a:rPr lang="en-US" altLang="ko-KR" sz="2400" b="1" dirty="0">
                <a:solidFill>
                  <a:srgbClr val="FF5722"/>
                </a:solidFill>
              </a:rPr>
              <a:t>. </a:t>
            </a:r>
            <a:r>
              <a:rPr lang="ko-KR" altLang="en-US" sz="2400" b="1" dirty="0">
                <a:solidFill>
                  <a:srgbClr val="FF5722"/>
                </a:solidFill>
              </a:rPr>
              <a:t>그래서 </a:t>
            </a:r>
            <a:r>
              <a:rPr lang="en-US" altLang="ko-KR" sz="2400" b="1" dirty="0">
                <a:solidFill>
                  <a:srgbClr val="FF5722"/>
                </a:solidFill>
              </a:rPr>
              <a:t>boxed </a:t>
            </a:r>
            <a:r>
              <a:rPr lang="ko-KR" altLang="en-US" sz="2400" b="1" dirty="0">
                <a:solidFill>
                  <a:srgbClr val="FF5722"/>
                </a:solidFill>
              </a:rPr>
              <a:t>표현이 필요할 수 있다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A52B436D-B32F-D351-D2CE-BF2893104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93397A-20F1-FB1E-79A0-2E3CDE9A3980}"/>
              </a:ext>
            </a:extLst>
          </p:cNvPr>
          <p:cNvSpPr txBox="1"/>
          <p:nvPr/>
        </p:nvSpPr>
        <p:spPr>
          <a:xfrm>
            <a:off x="6200776" y="1582341"/>
            <a:ext cx="597217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dirty="0" err="1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</a:t>
            </a:r>
            <a:r>
              <a:rPr lang="ko-KR" altLang="ko-KR" dirty="0">
                <a:solidFill>
                  <a:srgbClr val="70408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acceptAny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ko-KR" altLang="ko-KR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Any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Any로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받음: </a:t>
            </a:r>
            <a:r>
              <a:rPr lang="ko-KR" altLang="ko-KR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ko-KR" altLang="ko-KR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ko-KR" altLang="ko-KR" dirty="0" err="1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runtime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runtimeTypeOf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dirty="0" err="1">
                <a:solidFill>
                  <a:srgbClr val="1E5C8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r>
              <a:rPr lang="ko-KR" altLang="ko-KR" dirty="0">
                <a:solidFill>
                  <a:srgbClr val="174BE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ko-KR" altLang="ko-KR" dirty="0">
                <a:solidFill>
                  <a:srgbClr val="48683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  <a:p>
            <a:pPr>
              <a:buNone/>
            </a:pPr>
            <a:endParaRPr lang="en-US" altLang="ko-KR" dirty="0">
              <a:solidFill>
                <a:srgbClr val="9C7028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acceptAny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acceptAny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dirty="0" err="1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 err="1">
                <a:solidFill>
                  <a:srgbClr val="9C702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acceptAny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ko-KR" dirty="0">
                <a:solidFill>
                  <a:srgbClr val="4868F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10L</a:t>
            </a:r>
            <a: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ko-KR" altLang="ko-KR" dirty="0">
                <a:solidFill>
                  <a:srgbClr val="302A2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Any로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받음: 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(1001), 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runtime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=kos.chapter4.value.UserId</a:t>
            </a:r>
            <a:b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Any로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받음: 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FolderId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(2001), 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runtime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=kos.chapter4.value.FolderId</a:t>
            </a:r>
            <a:b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Any로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받음: 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=10, 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runtime</a:t>
            </a:r>
            <a:r>
              <a:rPr lang="ko-KR" altLang="ko-KR" dirty="0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ko-KR" altLang="ko-KR" dirty="0" err="1">
                <a:solidFill>
                  <a:srgbClr val="A0A0A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java.lang.Long</a:t>
            </a:r>
            <a:endParaRPr lang="ko-KR" altLang="ko-KR" dirty="0">
              <a:solidFill>
                <a:srgbClr val="302A24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855831-8B50-5D3F-4FDA-6AE304CE7705}"/>
              </a:ext>
            </a:extLst>
          </p:cNvPr>
          <p:cNvSpPr txBox="1"/>
          <p:nvPr/>
        </p:nvSpPr>
        <p:spPr>
          <a:xfrm>
            <a:off x="264816" y="6364843"/>
            <a:ext cx="117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chapter4/value/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  <a:latin typeface="나눔스퀘어라운드OTF Light" panose="020B0600000101010101" pitchFamily="34" charset="-127"/>
                <a:ea typeface="나눔스퀘어라운드OTF Light" panose="020B0600000101010101" pitchFamily="34" charset="-127"/>
              </a:rPr>
              <a:t>valueClass.kt</a:t>
            </a:r>
            <a:endParaRPr lang="ko-KR" altLang="ko-KR" sz="1800" dirty="0">
              <a:solidFill>
                <a:schemeClr val="bg1">
                  <a:lumMod val="50000"/>
                </a:schemeClr>
              </a:solidFill>
              <a:effectLst/>
              <a:latin typeface="나눔스퀘어라운드OTF Light" panose="020B0600000101010101" pitchFamily="34" charset="-127"/>
              <a:ea typeface="나눔스퀘어라운드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421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5FCD35-68A9-8D8D-4B54-BD8302243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62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유지민민">
      <a:majorFont>
        <a:latin typeface="나눔스퀘어라운드OTF Regular"/>
        <a:ea typeface="나눔스퀘어라운드OTF Regular"/>
        <a:cs typeface=""/>
      </a:majorFont>
      <a:minorFont>
        <a:latin typeface="나눔스퀘어라운드OTF Regular"/>
        <a:ea typeface="나눔스퀘어라운드OTF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3731</TotalTime>
  <Words>3833</Words>
  <Application>Microsoft Office PowerPoint</Application>
  <PresentationFormat>와이드스크린</PresentationFormat>
  <Paragraphs>200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9" baseType="lpstr">
      <vt:lpstr>D2Coding ligature</vt:lpstr>
      <vt:lpstr>나눔스퀘어라운드OTF Light</vt:lpstr>
      <vt:lpstr>나눔스퀘어라운드OTF Regular</vt:lpstr>
      <vt:lpstr>맑은 고딕</vt:lpstr>
      <vt:lpstr>Arial</vt:lpstr>
      <vt:lpstr>Courier New</vt:lpstr>
      <vt:lpstr>Wingdings</vt:lpstr>
      <vt:lpstr>Office 테마</vt:lpstr>
      <vt:lpstr>클래스, 객체, 인터페이스</vt:lpstr>
      <vt:lpstr>목차</vt:lpstr>
      <vt:lpstr>서론</vt:lpstr>
      <vt:lpstr>클래스 계층 정의</vt:lpstr>
      <vt:lpstr>클래스 계층 정의</vt:lpstr>
      <vt:lpstr>클래스 계층 정의</vt:lpstr>
      <vt:lpstr>클래스 계층 정의</vt:lpstr>
      <vt:lpstr>클래스 계층 정의</vt:lpstr>
      <vt:lpstr>클래스 계층 정의</vt:lpstr>
      <vt:lpstr>클래스 계층 정의</vt:lpstr>
      <vt:lpstr>클래스 계층 정의</vt:lpstr>
      <vt:lpstr>클래스 계층 정의</vt:lpstr>
      <vt:lpstr>클래스 계층 정의</vt:lpstr>
      <vt:lpstr>생성자와 프로퍼티</vt:lpstr>
      <vt:lpstr>생성자와 프로퍼티</vt:lpstr>
      <vt:lpstr>생성자와 프로퍼티</vt:lpstr>
      <vt:lpstr>데이터 클래스와 위임</vt:lpstr>
      <vt:lpstr>데이터 클래스와 위임</vt:lpstr>
      <vt:lpstr>데이터 클래스와 위임</vt:lpstr>
      <vt:lpstr>object</vt:lpstr>
      <vt:lpstr>object</vt:lpstr>
      <vt:lpstr>object</vt:lpstr>
      <vt:lpstr>인라인 클래스</vt:lpstr>
      <vt:lpstr>인라인 클래스</vt:lpstr>
      <vt:lpstr>인라인 클래스</vt:lpstr>
      <vt:lpstr>인라인 클래스</vt:lpstr>
      <vt:lpstr>인라인 클래스</vt:lpstr>
      <vt:lpstr>인라인 클래스</vt:lpstr>
      <vt:lpstr>인라인 클래스</vt:lpstr>
      <vt:lpstr>인라인 클래스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mr.gllom mr.gllom</dc:creator>
  <cp:lastModifiedBy>mr.gllom mr.gllom</cp:lastModifiedBy>
  <cp:revision>15</cp:revision>
  <dcterms:created xsi:type="dcterms:W3CDTF">2025-09-20T06:33:18Z</dcterms:created>
  <dcterms:modified xsi:type="dcterms:W3CDTF">2026-07-08T04:15:14Z</dcterms:modified>
</cp:coreProperties>
</file>