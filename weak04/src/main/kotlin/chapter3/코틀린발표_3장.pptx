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5" r:id="rId13"/>
    <p:sldId id="268" r:id="rId14"/>
    <p:sldId id="267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18"/>
    <p:restoredTop sz="94744"/>
  </p:normalViewPr>
  <p:slideViewPr>
    <p:cSldViewPr snapToGrid="0">
      <p:cViewPr>
        <p:scale>
          <a:sx n="131" d="100"/>
          <a:sy n="131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EC1FD2-A849-63FF-21F8-CE2B3674B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DA9B8E-FBD6-FE4D-195C-60544440B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A4072E-2F65-6BDF-7592-02705FD4F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C1B0-EF88-1440-BAD4-A2A2E87C2819}" type="datetimeFigureOut">
              <a:rPr kumimoji="1" lang="ko-KR" altLang="en-US" smtClean="0"/>
              <a:t>2026. 7. 8.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2A6B06-7AC5-5E4E-A6A6-FD346AA1A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5729E5-0BBC-5122-5865-550A1465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288B0-8594-5744-B3F8-EEF325CC2B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07192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101CA-A1D1-F8A5-D613-B45ABD909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693BE5-59AA-6754-C74E-61E25EC4C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49F9B1-4A44-E291-A921-334414910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C1B0-EF88-1440-BAD4-A2A2E87C2819}" type="datetimeFigureOut">
              <a:rPr kumimoji="1" lang="ko-KR" altLang="en-US" smtClean="0"/>
              <a:t>2026. 7. 8.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FE6B4B-4C38-483C-3B67-459A39B08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CCF810-48E6-06E5-F213-00F3502D5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288B0-8594-5744-B3F8-EEF325CC2B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24804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84FCF5-84CF-A76F-E012-AF71F95C0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99198F-CF38-DCCD-0622-4AB9A46D6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2C6B02-26B7-FC3C-F515-724557431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C1B0-EF88-1440-BAD4-A2A2E87C2819}" type="datetimeFigureOut">
              <a:rPr kumimoji="1" lang="ko-KR" altLang="en-US" smtClean="0"/>
              <a:t>2026. 7. 8.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4FB72-C8F6-9E76-7F70-B0D44C43D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69AEB1-A98B-9976-A1D1-407AFF43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288B0-8594-5744-B3F8-EEF325CC2B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8408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85FA21-DF31-4905-E8E3-70BADD996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6B2C95-B28E-53DD-E5A8-5C601BA9C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EFFD5F-61C5-9E7D-D312-A3153C343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A446A8-8CC4-CD27-5D56-497A4DD67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C1B0-EF88-1440-BAD4-A2A2E87C2819}" type="datetimeFigureOut">
              <a:rPr kumimoji="1" lang="ko-KR" altLang="en-US" smtClean="0"/>
              <a:t>2026. 7. 8.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02F47B-21D0-30B4-E017-743BFE26B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F656AB-9E56-6613-AD49-6A7D022C0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288B0-8594-5744-B3F8-EEF325CC2B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1023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98DA0D-E474-10A9-48F0-B5C6DCA6E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AE5C17-2C32-3366-7107-91F3B9496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7809A7-B0A8-1BC9-B790-61576C126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E390B6D-13F2-8BA6-9917-EBB09F394C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8715282-F8C2-0374-0684-4AB3BF6B3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C2E1B9F-E3DA-6E81-31C1-F1458EEEF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C1B0-EF88-1440-BAD4-A2A2E87C2819}" type="datetimeFigureOut">
              <a:rPr kumimoji="1" lang="ko-KR" altLang="en-US" smtClean="0"/>
              <a:t>2026. 7. 8.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969D359-526E-93D9-36D4-2E18EB707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333E90-631D-6707-43E8-51D17783A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288B0-8594-5744-B3F8-EEF325CC2B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52027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ACE36-D8EE-ED1C-4711-20F3D8E40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20B118-76B1-DD6A-6C9A-080531F7E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C1B0-EF88-1440-BAD4-A2A2E87C2819}" type="datetimeFigureOut">
              <a:rPr kumimoji="1" lang="ko-KR" altLang="en-US" smtClean="0"/>
              <a:t>2026. 7. 8.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213937B-D262-3E24-D753-EB99ECE18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0A2021-5C1E-673E-30F9-2D8D474CE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288B0-8594-5744-B3F8-EEF325CC2B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91104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DA3827D-A5CB-918F-3F49-D1EDC2C2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C1B0-EF88-1440-BAD4-A2A2E87C2819}" type="datetimeFigureOut">
              <a:rPr kumimoji="1" lang="ko-KR" altLang="en-US" smtClean="0"/>
              <a:t>2026. 7. 8.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9839AF2-0884-A313-F1B7-2C1F3812A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B522DB-D609-5C4D-CAFD-553AE2B1B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288B0-8594-5744-B3F8-EEF325CC2B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42693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A0998-9FDC-B397-8F78-88F51E6BE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B53474-72E8-08B8-C657-A2786FABB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D95380-26AD-9BE3-5955-611257E1F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6EBB21-C59D-6D93-532C-8118A5882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C1B0-EF88-1440-BAD4-A2A2E87C2819}" type="datetimeFigureOut">
              <a:rPr kumimoji="1" lang="ko-KR" altLang="en-US" smtClean="0"/>
              <a:t>2026. 7. 8.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8585D6-4BAF-CC50-5A84-D90D59E8B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30D7B1-C2B0-E12C-0D00-A5A8C1BB1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288B0-8594-5744-B3F8-EEF325CC2B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999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0E6302-5E2E-A73D-8480-A9EDAAA99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B201A2D-2842-B683-FE11-4AEE56CA17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202E20-ADF2-7917-0932-2778329E71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6E1D93-4BAC-E805-AD77-65EAD9412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C1B0-EF88-1440-BAD4-A2A2E87C2819}" type="datetimeFigureOut">
              <a:rPr kumimoji="1" lang="ko-KR" altLang="en-US" smtClean="0"/>
              <a:t>2026. 7. 8.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BBD5DF-9511-E4DC-F5B8-EC23F769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FA5951-44C5-4005-FC06-CABE3B511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288B0-8594-5744-B3F8-EEF325CC2B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86989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7ABA5-3140-CE70-91FE-7A0316D45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CF2A9B-EBBA-016A-ABFA-3F451C352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0C4D14-5CFD-7E19-791C-56AF20627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C1B0-EF88-1440-BAD4-A2A2E87C2819}" type="datetimeFigureOut">
              <a:rPr kumimoji="1" lang="ko-KR" altLang="en-US" smtClean="0"/>
              <a:t>2026. 7. 8.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1AB17A-F1F8-7642-64D9-AF2EC499B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C42BF4-9492-84F4-331F-A99C0E5A5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288B0-8594-5744-B3F8-EEF325CC2B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83796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6D59E55-7318-2BE1-218D-F5904E99AA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AA863C-F126-53D9-3791-5E02305B9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398359-7D0B-B188-655F-CE847D144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C1B0-EF88-1440-BAD4-A2A2E87C2819}" type="datetimeFigureOut">
              <a:rPr kumimoji="1" lang="ko-KR" altLang="en-US" smtClean="0"/>
              <a:t>2026. 7. 8.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091CC8-5F38-FC6D-A1C9-27B10EAD3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5361FD-AA7D-B795-FF62-5602CEEC9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288B0-8594-5744-B3F8-EEF325CC2B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01307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6BCD6D-CE29-35C5-8232-7A125F0B2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EFE1ED-D7CB-4C83-EB75-EA8BF3B3B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06057D-7571-ABD2-EF0A-7BFC67C8E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D7C1B0-EF88-1440-BAD4-A2A2E87C2819}" type="datetimeFigureOut">
              <a:rPr kumimoji="1" lang="ko-KR" altLang="en-US" smtClean="0"/>
              <a:t>2026. 7. 8.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1B0099-D558-1ABD-C641-BA9CBDF5C0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8C282B-187C-7C90-1B75-D0FE2D875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B288B0-8594-5744-B3F8-EEF325CC2BC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97903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C3191-D68A-8749-2CD8-613B22A67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94581" y="845389"/>
            <a:ext cx="9144000" cy="835774"/>
          </a:xfrm>
        </p:spPr>
        <p:txBody>
          <a:bodyPr>
            <a:normAutofit/>
          </a:bodyPr>
          <a:lstStyle/>
          <a:p>
            <a:r>
              <a:rPr kumimoji="1" lang="en-US" altLang="ko-KR" sz="4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3</a:t>
            </a:r>
            <a:r>
              <a:rPr kumimoji="1" lang="ko-KR" altLang="en-US" sz="4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장 함수 정의와 호출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12A2E6-0224-D3EF-6609-34A9C7C3C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94581" y="1773238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By </a:t>
            </a:r>
            <a:r>
              <a:rPr kumimoji="1" lang="ko-KR" altLang="en-US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코틀린</a:t>
            </a:r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&amp;</a:t>
            </a:r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ko-KR" altLang="en-US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안드</a:t>
            </a:r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ko-KR" altLang="en-US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알못</a:t>
            </a:r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(</a:t>
            </a:r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하하</a:t>
            </a:r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)</a:t>
            </a:r>
          </a:p>
          <a:p>
            <a:r>
              <a:rPr kumimoji="1" lang="ko-KR" altLang="en-US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코틀린</a:t>
            </a:r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질문 </a:t>
            </a:r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NO</a:t>
            </a:r>
          </a:p>
          <a:p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자바 질문 </a:t>
            </a:r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YES</a:t>
            </a:r>
          </a:p>
          <a:p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스프링 질문 더 </a:t>
            </a:r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YES</a:t>
            </a:r>
            <a:endParaRPr kumimoji="1" lang="ko-KR" altLang="en-US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8EB866-5F08-48C7-8C1E-CE871E05D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089" y="3521075"/>
            <a:ext cx="6718660" cy="30836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319BD8E-BE75-7222-EE57-872D6CF9D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619" y="5090899"/>
            <a:ext cx="764996" cy="76499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BEE8081-1D30-2D99-E268-A7C05C6C5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0089" y="4847475"/>
            <a:ext cx="980416" cy="98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933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E3E91-1457-D497-7329-CF376E234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CF3D7F-0E54-230D-C678-BF313EABB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9689"/>
            <a:ext cx="10515600" cy="4351338"/>
          </a:xfrm>
        </p:spPr>
        <p:txBody>
          <a:bodyPr/>
          <a:lstStyle/>
          <a:p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컬렉션</a:t>
            </a:r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문자열</a:t>
            </a:r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정규 식을 다루기 위한 함수</a:t>
            </a:r>
            <a:endParaRPr kumimoji="1" lang="en-US" altLang="ko-KR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최상위 및 로컬 함수와 프로퍼티</a:t>
            </a:r>
            <a:endParaRPr kumimoji="1" lang="en-US" altLang="ko-KR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확장 함수</a:t>
            </a:r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확장 프로퍼티</a:t>
            </a:r>
            <a:endParaRPr kumimoji="1" lang="en-US" altLang="ko-KR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가변 길이 인자</a:t>
            </a:r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디폴트 </a:t>
            </a:r>
            <a:r>
              <a:rPr kumimoji="1" lang="ko-KR" altLang="en-US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파라미터값</a:t>
            </a:r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중위 호출 문법</a:t>
            </a:r>
            <a:endParaRPr kumimoji="1" lang="en-US" altLang="ko-KR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826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12184-FEFC-3108-A0E2-0D3FBA088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BB4E58-6CC2-EC4D-8593-6D4CFE60E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컬렉션</a:t>
            </a:r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문자열</a:t>
            </a:r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정규식</a:t>
            </a:r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함수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22B5AC3-2ACC-8CD2-4445-730CBDC676CE}"/>
              </a:ext>
            </a:extLst>
          </p:cNvPr>
          <p:cNvSpPr txBox="1">
            <a:spLocks/>
          </p:cNvSpPr>
          <p:nvPr/>
        </p:nvSpPr>
        <p:spPr>
          <a:xfrm>
            <a:off x="0" y="1938585"/>
            <a:ext cx="6166449" cy="503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ko-KR" altLang="en-US" sz="24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코틀린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컬렉션 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=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자바 컬렉션 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+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확장 함수</a:t>
            </a:r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C9A61BE-A75A-6DF5-B006-A4BF0B928C2A}"/>
              </a:ext>
            </a:extLst>
          </p:cNvPr>
          <p:cNvSpPr txBox="1">
            <a:spLocks/>
          </p:cNvSpPr>
          <p:nvPr/>
        </p:nvSpPr>
        <p:spPr>
          <a:xfrm>
            <a:off x="643467" y="2689825"/>
            <a:ext cx="5452533" cy="2856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-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자바의 컬렉션 클래스 그대로 사용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>
              <a:buFontTx/>
              <a:buChar char="-"/>
            </a:pPr>
            <a:r>
              <a:rPr kumimoji="1" lang="en-US" altLang="ko-KR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listOf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라는 확장 함수로 컬렉션 생성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>
              <a:buFontTx/>
              <a:buChar char="-"/>
            </a:pP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런타임에는 </a:t>
            </a:r>
            <a:r>
              <a:rPr kumimoji="1" lang="en-US" altLang="ko-KR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java.util.List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이렇게 호출됨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>
              <a:buFontTx/>
              <a:buChar char="-"/>
            </a:pP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즉 </a:t>
            </a:r>
            <a:r>
              <a:rPr kumimoji="1" lang="ko-KR" altLang="en-US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코틀린에서는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확장 함수를 사용해서 컬렉션에서 마지막 원소 가져오기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합계 계산하기 등등의 추가 기능 사용이 가능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3A748F-992E-36FE-E617-FF79E2D4C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74031"/>
            <a:ext cx="6164720" cy="351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517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FE974E0F-6729-1372-E36C-D8F101B443C6}"/>
              </a:ext>
            </a:extLst>
          </p:cNvPr>
          <p:cNvSpPr txBox="1">
            <a:spLocks/>
          </p:cNvSpPr>
          <p:nvPr/>
        </p:nvSpPr>
        <p:spPr>
          <a:xfrm>
            <a:off x="838200" y="1774031"/>
            <a:ext cx="6166449" cy="503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자바 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-&gt;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ko-KR" altLang="en-US" sz="24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코틀린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함수 호출 시 문제</a:t>
            </a:r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462BD678-787F-0B26-4E25-F2AD467884E9}"/>
              </a:ext>
            </a:extLst>
          </p:cNvPr>
          <p:cNvSpPr txBox="1">
            <a:spLocks/>
          </p:cNvSpPr>
          <p:nvPr/>
        </p:nvSpPr>
        <p:spPr>
          <a:xfrm>
            <a:off x="838200" y="2277374"/>
            <a:ext cx="9427234" cy="2856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자바에는 디폴트 파라미터가 없음 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-&gt;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ko-KR" altLang="en-US" sz="24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코틀린에만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존재</a:t>
            </a:r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@</a:t>
            </a:r>
            <a:r>
              <a:rPr kumimoji="1" lang="en-US" altLang="ko-KR" sz="24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JvmOverloads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ko-KR" altLang="en-US" sz="24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어노테이션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붙이면 해결</a:t>
            </a:r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r>
              <a:rPr kumimoji="1" lang="ko-KR" altLang="en-US" sz="24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코틀린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컴파일러가 마지막 파라미터부터 하나씩 빼서 오버로드 버전을 </a:t>
            </a:r>
            <a:r>
              <a:rPr kumimoji="1" lang="ko-KR" altLang="en-US" sz="24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만들어줌</a:t>
            </a:r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3F172450-A428-A73C-7396-34904F7E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컬렉션</a:t>
            </a:r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문자열</a:t>
            </a:r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정규식</a:t>
            </a:r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함수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7E093D7-8545-6712-E30C-D8BBEE7DC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455928"/>
            <a:ext cx="9761666" cy="152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412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13106-2A4C-79BD-6597-334395255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6B0BCC4-B233-2467-40E2-FB5BC74DB827}"/>
              </a:ext>
            </a:extLst>
          </p:cNvPr>
          <p:cNvSpPr txBox="1">
            <a:spLocks/>
          </p:cNvSpPr>
          <p:nvPr/>
        </p:nvSpPr>
        <p:spPr>
          <a:xfrm>
            <a:off x="958970" y="2477572"/>
            <a:ext cx="8599099" cy="2357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ko-KR" altLang="en-US" sz="24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컴파일되면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파일명 기준으로 클래스 자동 생성</a:t>
            </a:r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최상위 함수가 그 클래스의 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static 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메서드가 됨</a:t>
            </a:r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클래스 이름 변경하려면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?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en-US" altLang="ko-KR" sz="24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JvmName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(“..”)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ko-KR" altLang="en-US" sz="24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어노테이션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사용 </a:t>
            </a:r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F0054DC1-9FE3-5BE6-7E86-BE94CB80C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최상위 및 로컬 함수와 프로퍼티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DDD98D52-CFD4-4131-C5B3-100F7F78BA82}"/>
              </a:ext>
            </a:extLst>
          </p:cNvPr>
          <p:cNvSpPr txBox="1">
            <a:spLocks/>
          </p:cNvSpPr>
          <p:nvPr/>
        </p:nvSpPr>
        <p:spPr>
          <a:xfrm>
            <a:off x="838200" y="1774031"/>
            <a:ext cx="6166449" cy="503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자바처럼 클래스부터 만들 필요가 없음</a:t>
            </a:r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0686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0C409-A662-1F13-C18C-A7AFBDBF9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B284964-8CA5-DD86-D6F1-84362CA2DD88}"/>
              </a:ext>
            </a:extLst>
          </p:cNvPr>
          <p:cNvSpPr txBox="1">
            <a:spLocks/>
          </p:cNvSpPr>
          <p:nvPr/>
        </p:nvSpPr>
        <p:spPr>
          <a:xfrm>
            <a:off x="958970" y="2477572"/>
            <a:ext cx="8599099" cy="2357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함수 안에 함수 정의</a:t>
            </a:r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중복 로직 별도 클래스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ko-KR" altLang="en-US" sz="24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자바에서처럼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private 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메서드로 빼거나 익명 클래스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람다로 하지 않고 캡슐화 가능</a:t>
            </a:r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로컬 함수는 바깥 함수의 파라미터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지역변수에 자유롭게 접근 하면서도 함수 밖에서는 호출이 안되게 하기 때문에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..</a:t>
            </a:r>
          </a:p>
          <a:p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C7DCE1C3-5CD6-868D-BC43-BDAA5EE1F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최상위 및 로컬 함수와 프로퍼티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CCA29DE7-BE09-4EEF-4780-53D12D3E8BBF}"/>
              </a:ext>
            </a:extLst>
          </p:cNvPr>
          <p:cNvSpPr txBox="1">
            <a:spLocks/>
          </p:cNvSpPr>
          <p:nvPr/>
        </p:nvSpPr>
        <p:spPr>
          <a:xfrm>
            <a:off x="838200" y="1774031"/>
            <a:ext cx="6166449" cy="503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로컬 함수</a:t>
            </a:r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9015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1C47D-2768-DA57-AB07-92BE7E313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D9B8670C-30F3-4A1E-2513-8D87B63F4DAD}"/>
              </a:ext>
            </a:extLst>
          </p:cNvPr>
          <p:cNvSpPr txBox="1">
            <a:spLocks/>
          </p:cNvSpPr>
          <p:nvPr/>
        </p:nvSpPr>
        <p:spPr>
          <a:xfrm>
            <a:off x="958970" y="2677769"/>
            <a:ext cx="8599099" cy="2357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파일 최상위에 두면 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static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필드로 저장됨</a:t>
            </a:r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컴파일 결과 자바로 치면 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getter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로 코드에 노출됨</a:t>
            </a:r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Const</a:t>
            </a:r>
            <a:r>
              <a:rPr kumimoji="1" lang="ko-KR" altLang="en-US" sz="24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를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붙이면 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public </a:t>
            </a:r>
            <a:r>
              <a:rPr kumimoji="1" lang="en-US" altLang="ko-KR" sz="24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statc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final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이랑 완전 동일한 바이트코드로 컴파일됨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</a:p>
          <a:p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D69D8D35-83C1-CF81-B4CC-9EAA6BFB5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최상위 및 로컬 함수와 프로퍼티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5525D32F-9BA3-08AD-9C92-E6F36CD07985}"/>
              </a:ext>
            </a:extLst>
          </p:cNvPr>
          <p:cNvSpPr txBox="1">
            <a:spLocks/>
          </p:cNvSpPr>
          <p:nvPr/>
        </p:nvSpPr>
        <p:spPr>
          <a:xfrm>
            <a:off x="838199" y="1774031"/>
            <a:ext cx="7460411" cy="503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최상위 프로퍼티</a:t>
            </a:r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4939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E8759-3422-4F9F-387E-CA522E556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0ED3217-ED5C-1106-6FC5-42C29A592795}"/>
              </a:ext>
            </a:extLst>
          </p:cNvPr>
          <p:cNvSpPr txBox="1">
            <a:spLocks/>
          </p:cNvSpPr>
          <p:nvPr/>
        </p:nvSpPr>
        <p:spPr>
          <a:xfrm>
            <a:off x="838199" y="2673074"/>
            <a:ext cx="8599099" cy="3815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상속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데코레이터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없이 기존 클래스에 메서드 추가 가능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소스가 없는 자바 라이브러리 클래스에도 자유롭게 확장 함수 추가 가능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바이트코드로 보면 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static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ko-KR" altLang="en-US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메서드랑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동일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확장 함수도 일반 함수처럼 사용 전에 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import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필요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클래스 내부에 정의한 확장 함수는 클래스의 인스턴스를 통해 호출 필요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 marL="0" indent="0">
              <a:buNone/>
            </a:pP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EA460868-89B5-6E9E-FFE8-B79888E0C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확장 함수</a:t>
            </a:r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확장 프로퍼티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9BC06534-C160-B7AA-8567-D90D6D4D1BF9}"/>
              </a:ext>
            </a:extLst>
          </p:cNvPr>
          <p:cNvSpPr txBox="1">
            <a:spLocks/>
          </p:cNvSpPr>
          <p:nvPr/>
        </p:nvSpPr>
        <p:spPr>
          <a:xfrm>
            <a:off x="838199" y="1774031"/>
            <a:ext cx="7460411" cy="503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확장 함수 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-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다른 </a:t>
            </a:r>
            <a:r>
              <a:rPr kumimoji="1" lang="ko-KR" altLang="en-US" sz="24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클래스인데도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메서드 추가 가능</a:t>
            </a:r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663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3C433-5780-21E1-649D-19FFCC428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29C8ACC-BFD1-1D71-D715-4099E1DE3A63}"/>
              </a:ext>
            </a:extLst>
          </p:cNvPr>
          <p:cNvSpPr txBox="1">
            <a:spLocks/>
          </p:cNvSpPr>
          <p:nvPr/>
        </p:nvSpPr>
        <p:spPr>
          <a:xfrm>
            <a:off x="700176" y="2386461"/>
            <a:ext cx="9774784" cy="2357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정적 타입 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vs 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런타임 타입 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(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코드 작성 시점 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vs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실행 시점 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)</a:t>
            </a:r>
          </a:p>
          <a:p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Vs 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멤버변수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: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실제 타입을 보고 결정 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-&gt; </a:t>
            </a:r>
            <a:r>
              <a:rPr kumimoji="1" lang="ko-KR" altLang="en-US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오버라이딩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안됨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자바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코틀린의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인스턴스 메서드는 동적 </a:t>
            </a:r>
            <a:r>
              <a:rPr kumimoji="1" lang="ko-KR" altLang="en-US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디스패치로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동작하는데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JVM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이 메서드 호출 시 실행 시점의 객체의 런타임 타입을 찾음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확장 함수 </a:t>
            </a:r>
            <a:r>
              <a:rPr kumimoji="1" lang="ko-KR" altLang="en-US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오버라이드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안되는 이유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: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컴파일하면 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static 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메서드이기 때문에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en-US" altLang="ko-KR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jvm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이 실행 시점에 찾아갈 </a:t>
            </a:r>
            <a:r>
              <a:rPr kumimoji="1" lang="en-US" altLang="ko-KR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vtable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자체가 없음 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-&gt;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ko-KR" altLang="en-US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다형성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X</a:t>
            </a:r>
          </a:p>
          <a:p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 marL="0" indent="0">
              <a:buNone/>
            </a:pP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6DA795ED-6BE2-57E2-8309-65BE5B7A8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확장 함수</a:t>
            </a:r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확장 프로퍼티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6F24352-8253-9325-F9A0-4C3B29E60B78}"/>
              </a:ext>
            </a:extLst>
          </p:cNvPr>
          <p:cNvSpPr txBox="1">
            <a:spLocks/>
          </p:cNvSpPr>
          <p:nvPr/>
        </p:nvSpPr>
        <p:spPr>
          <a:xfrm>
            <a:off x="838199" y="1420587"/>
            <a:ext cx="7460411" cy="503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확장 함수 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-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ko-KR" altLang="en-US" sz="24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오버라이드가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안되고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컴파일 시점에 변수의 정적 타입을 보고 어떤 함수 호출할지 결정</a:t>
            </a:r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DF3378F-1570-A164-3C29-C50C4F918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39" y="4744290"/>
            <a:ext cx="6721197" cy="2217995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5713114-05BA-6152-095D-79699458F5DE}"/>
              </a:ext>
            </a:extLst>
          </p:cNvPr>
          <p:cNvSpPr txBox="1">
            <a:spLocks/>
          </p:cNvSpPr>
          <p:nvPr/>
        </p:nvSpPr>
        <p:spPr>
          <a:xfrm>
            <a:off x="7125419" y="5005114"/>
            <a:ext cx="3571336" cy="148776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Click 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선언 타입만 보고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Button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의 </a:t>
            </a:r>
            <a:r>
              <a:rPr kumimoji="1" lang="ko-KR" altLang="en-US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인스턴스인데도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View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타입으로 하도록 </a:t>
            </a:r>
            <a:r>
              <a:rPr kumimoji="1" lang="ko-KR" altLang="en-US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결정해버림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 marL="0" indent="0">
              <a:buNone/>
            </a:pP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-&gt;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ko-KR" altLang="en-US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오버라이드안됨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268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F7E89-EB0A-C730-C3DA-984BA124F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81EA752-1884-E6EB-26B2-1C1AF5B93706}"/>
              </a:ext>
            </a:extLst>
          </p:cNvPr>
          <p:cNvSpPr txBox="1">
            <a:spLocks/>
          </p:cNvSpPr>
          <p:nvPr/>
        </p:nvSpPr>
        <p:spPr>
          <a:xfrm>
            <a:off x="838199" y="2673074"/>
            <a:ext cx="8599099" cy="2692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일반 프로퍼티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: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저장 공간을 가짐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선언 시 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get set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이 자동으로 붙음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>
              <a:buFontTx/>
              <a:buChar char="-"/>
            </a:pP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확장 프로퍼티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: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필드 저장 공간이 없어서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getter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만 가능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>
              <a:buFontTx/>
              <a:buChar char="-"/>
            </a:pP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내부적으로는 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get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함수를 </a:t>
            </a:r>
            <a:r>
              <a:rPr kumimoji="1" lang="ko-KR" altLang="en-US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호출하는거고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해당 함수는 원래 갖고 있는 값을 매번 다시 계산해서 돌려줌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>
              <a:buFontTx/>
              <a:buChar char="-"/>
            </a:pP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var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로 선언하면 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set()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도 커스텀 정의 가능하지만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값을 실제 저장할 공간은 없음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ACE2196F-DFE9-3419-7D69-7001EE634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확장 함수</a:t>
            </a:r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확장 프로퍼티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FDC85F47-DB4C-E5D2-FFB6-8422D2FD0181}"/>
              </a:ext>
            </a:extLst>
          </p:cNvPr>
          <p:cNvSpPr txBox="1">
            <a:spLocks/>
          </p:cNvSpPr>
          <p:nvPr/>
        </p:nvSpPr>
        <p:spPr>
          <a:xfrm>
            <a:off x="838199" y="1774031"/>
            <a:ext cx="7460411" cy="503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ko-KR" altLang="en-US" sz="24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게터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세터만 추가 가능하고 실제 필드는 </a:t>
            </a:r>
            <a:r>
              <a:rPr kumimoji="1" lang="ko-KR" altLang="en-US" sz="24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못넣음</a:t>
            </a:r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9322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13570-A19D-122B-1BAA-D6152962B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70BC25C-5545-3383-4B0E-B57AA243DD6A}"/>
              </a:ext>
            </a:extLst>
          </p:cNvPr>
          <p:cNvSpPr txBox="1">
            <a:spLocks/>
          </p:cNvSpPr>
          <p:nvPr/>
        </p:nvSpPr>
        <p:spPr>
          <a:xfrm>
            <a:off x="760378" y="2079620"/>
            <a:ext cx="10698805" cy="2692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Spring</a:t>
            </a:r>
            <a:r>
              <a:rPr kumimoji="1" lang="ko-KR" altLang="en-US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에서는 엔티티를 </a:t>
            </a:r>
            <a:r>
              <a:rPr kumimoji="1" lang="en-US" altLang="ko-KR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DTO</a:t>
            </a:r>
            <a:r>
              <a:rPr kumimoji="1" lang="ko-KR" altLang="en-US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로 변환하는 로직이 필요한데</a:t>
            </a:r>
            <a:r>
              <a:rPr kumimoji="1" lang="en-US" altLang="ko-KR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이 로직이 중복되면 따로 </a:t>
            </a:r>
            <a:r>
              <a:rPr kumimoji="1" lang="en-US" altLang="ko-KR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Converter class</a:t>
            </a:r>
            <a:r>
              <a:rPr kumimoji="1" lang="ko-KR" altLang="en-US" sz="18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를</a:t>
            </a:r>
            <a:r>
              <a:rPr kumimoji="1" lang="ko-KR" altLang="en-US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두고 그 안에서 </a:t>
            </a:r>
            <a:r>
              <a:rPr kumimoji="1" lang="en-US" altLang="ko-KR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builder</a:t>
            </a:r>
            <a:r>
              <a:rPr kumimoji="1" lang="ko-KR" altLang="en-US" sz="18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를</a:t>
            </a:r>
            <a:r>
              <a:rPr kumimoji="1" lang="ko-KR" altLang="en-US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호출해서 변환하는 로직을 수행함</a:t>
            </a:r>
            <a:endParaRPr kumimoji="1" lang="en-US" altLang="ko-KR" sz="18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r>
              <a:rPr kumimoji="1" lang="ko-KR" altLang="en-US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보통 </a:t>
            </a:r>
            <a:r>
              <a:rPr kumimoji="1" lang="en-US" altLang="ko-KR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Converter</a:t>
            </a:r>
            <a:r>
              <a:rPr kumimoji="1" lang="ko-KR" altLang="en-US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en-US" altLang="ko-KR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class </a:t>
            </a:r>
            <a:r>
              <a:rPr kumimoji="1" lang="ko-KR" altLang="en-US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안에 </a:t>
            </a:r>
            <a:r>
              <a:rPr kumimoji="1" lang="en-US" altLang="ko-KR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static </a:t>
            </a:r>
            <a:r>
              <a:rPr kumimoji="1" lang="ko-KR" altLang="en-US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메서드로 생성하거나</a:t>
            </a:r>
            <a:r>
              <a:rPr kumimoji="1" lang="en-US" altLang="ko-KR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en-US" altLang="ko-KR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Converter</a:t>
            </a:r>
            <a:r>
              <a:rPr kumimoji="1" lang="ko-KR" altLang="en-US" sz="18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를</a:t>
            </a:r>
            <a:r>
              <a:rPr kumimoji="1" lang="ko-KR" altLang="en-US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빈으로 등록해서 </a:t>
            </a:r>
            <a:r>
              <a:rPr kumimoji="1" lang="ko-KR" altLang="en-US" sz="18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주입받는</a:t>
            </a:r>
            <a:r>
              <a:rPr kumimoji="1" lang="ko-KR" altLang="en-US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방식으로 하게 된다면</a:t>
            </a:r>
            <a:r>
              <a:rPr kumimoji="1" lang="en-US" altLang="ko-KR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테스트할 때도 </a:t>
            </a:r>
            <a:r>
              <a:rPr kumimoji="1" lang="en-US" altLang="ko-KR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Converter</a:t>
            </a:r>
            <a:r>
              <a:rPr kumimoji="1" lang="ko-KR" altLang="en-US" sz="18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를</a:t>
            </a:r>
            <a:r>
              <a:rPr kumimoji="1" lang="ko-KR" altLang="en-US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en-US" altLang="ko-KR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Mock</a:t>
            </a:r>
            <a:r>
              <a:rPr kumimoji="1" lang="ko-KR" altLang="en-US" sz="18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으로</a:t>
            </a:r>
            <a:r>
              <a:rPr kumimoji="1" lang="ko-KR" altLang="en-US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주입을 해주지 않으면 테스트 실패 </a:t>
            </a:r>
            <a:r>
              <a:rPr kumimoji="1" lang="en-US" altLang="ko-KR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-&gt;</a:t>
            </a:r>
            <a:r>
              <a:rPr kumimoji="1" lang="ko-KR" altLang="en-US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매우 번거로움 </a:t>
            </a:r>
            <a:r>
              <a:rPr kumimoji="1" lang="en-US" altLang="ko-KR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/</a:t>
            </a:r>
            <a:r>
              <a:rPr kumimoji="1" lang="ko-KR" altLang="en-US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en-US" altLang="ko-KR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But</a:t>
            </a:r>
            <a:r>
              <a:rPr kumimoji="1" lang="ko-KR" altLang="en-US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en-US" altLang="ko-KR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static</a:t>
            </a:r>
            <a:r>
              <a:rPr kumimoji="1" lang="ko-KR" altLang="en-US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메서드를 만들면 바이트코드 레벨에서는 차이 없음</a:t>
            </a:r>
            <a:endParaRPr kumimoji="1" lang="en-US" altLang="ko-KR" sz="18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r>
              <a:rPr kumimoji="1" lang="ko-KR" altLang="en-US" sz="18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코틀린스프링으로</a:t>
            </a:r>
            <a:r>
              <a:rPr kumimoji="1" lang="ko-KR" altLang="en-US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넘어가게 되면 확장함수로 처리 가능하기 때문에 </a:t>
            </a:r>
            <a:r>
              <a:rPr kumimoji="1" lang="en-US" altLang="ko-KR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Converter </a:t>
            </a:r>
            <a:r>
              <a:rPr kumimoji="1" lang="ko-KR" altLang="en-US" sz="18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패턴을 사용할 이유가 없음</a:t>
            </a:r>
            <a:endParaRPr kumimoji="1" lang="en-US" altLang="ko-KR" sz="18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18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1C861630-5F6A-2F37-6466-2E96D3C9C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확장 함수</a:t>
            </a:r>
            <a:r>
              <a:rPr kumimoji="1" lang="en-US" altLang="ko-KR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확장 프로퍼티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4C6E05E2-40D1-8E82-DB8D-124D88218057}"/>
              </a:ext>
            </a:extLst>
          </p:cNvPr>
          <p:cNvSpPr txBox="1">
            <a:spLocks/>
          </p:cNvSpPr>
          <p:nvPr/>
        </p:nvSpPr>
        <p:spPr>
          <a:xfrm>
            <a:off x="838200" y="1526838"/>
            <a:ext cx="8665724" cy="503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Spring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에서 확장함수 활용 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–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단순 매핑용 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Converter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CEDC5E2-1C19-D537-1516-B9889587E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93" y="4580627"/>
            <a:ext cx="4403387" cy="208041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C6A031B-D872-FB7A-2609-2B90FD0FB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510" y="4598907"/>
            <a:ext cx="5918200" cy="4699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8EC9C79-14FB-29FF-345D-80322E3DC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9510" y="5167684"/>
            <a:ext cx="42799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641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30CAA-45F9-0A8D-94BF-1424B4F6A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551687D-2CAC-BC6E-392E-F93A1A299885}"/>
              </a:ext>
            </a:extLst>
          </p:cNvPr>
          <p:cNvSpPr txBox="1">
            <a:spLocks/>
          </p:cNvSpPr>
          <p:nvPr/>
        </p:nvSpPr>
        <p:spPr>
          <a:xfrm>
            <a:off x="838200" y="2110416"/>
            <a:ext cx="8599099" cy="2357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자바 </a:t>
            </a:r>
            <a:r>
              <a:rPr kumimoji="1" lang="en-US" altLang="ko-KR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varang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: 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배열 그대로 전달 가능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배열이랑 가변 인자 값들을 같은 걸로 취급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>
              <a:buFontTx/>
              <a:buChar char="-"/>
            </a:pPr>
            <a:r>
              <a:rPr kumimoji="1" lang="ko-KR" altLang="en-US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코틀린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: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배열을 그냥 넘길 수 없고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스프레드 연산자로 </a:t>
            </a:r>
            <a:r>
              <a:rPr kumimoji="1" lang="ko-KR" altLang="en-US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풀어줘야함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개별 </a:t>
            </a:r>
            <a:r>
              <a:rPr kumimoji="1" lang="ko-KR" altLang="en-US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값이랑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섞어서 넘기는 것도 가능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>
              <a:buFontTx/>
              <a:buChar char="-"/>
            </a:pPr>
            <a:r>
              <a:rPr kumimoji="1" lang="ko-KR" altLang="en-US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코틀린은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가변 </a:t>
            </a:r>
            <a:r>
              <a:rPr kumimoji="1" lang="ko-KR" altLang="en-US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인자값들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배열을 타입 시스템에서 별개로 </a:t>
            </a:r>
            <a:r>
              <a:rPr kumimoji="1" lang="ko-KR" altLang="en-US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구분해놔서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배열을 자리에 넣으려면 펼쳐서 넣어주도록 표시를 해줘야 함 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 marL="0" indent="0">
              <a:buNone/>
            </a:pP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 marL="0" indent="0">
              <a:buNone/>
            </a:pP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84BB2A0-7446-7335-74B2-778EEBB8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343" y="365125"/>
            <a:ext cx="10784457" cy="1073891"/>
          </a:xfrm>
        </p:spPr>
        <p:txBody>
          <a:bodyPr>
            <a:normAutofit/>
          </a:bodyPr>
          <a:lstStyle/>
          <a:p>
            <a:r>
              <a:rPr kumimoji="1" lang="ko-KR" altLang="en-US" sz="3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가변 길이 인자</a:t>
            </a:r>
            <a:endParaRPr kumimoji="1" lang="en-US" altLang="ko-KR" sz="36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238E121-661A-FBF0-F61A-076A32CA60E1}"/>
              </a:ext>
            </a:extLst>
          </p:cNvPr>
          <p:cNvSpPr txBox="1">
            <a:spLocks/>
          </p:cNvSpPr>
          <p:nvPr/>
        </p:nvSpPr>
        <p:spPr>
          <a:xfrm>
            <a:off x="838200" y="1439016"/>
            <a:ext cx="7460411" cy="503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24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Vararg</a:t>
            </a:r>
            <a:r>
              <a:rPr kumimoji="1" lang="en-US" altLang="ko-KR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ko-KR" altLang="en-US" sz="24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문법 차이 </a:t>
            </a:r>
            <a:endParaRPr kumimoji="1" lang="en-US" altLang="ko-KR" sz="24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C6C8DC1-5BAE-9417-0DC3-57FF013D4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90" y="4561333"/>
            <a:ext cx="6432383" cy="171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02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AC177-9856-2383-34E7-56E787EC5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BF65F4E-F903-14F6-053C-F247D84D6310}"/>
              </a:ext>
            </a:extLst>
          </p:cNvPr>
          <p:cNvSpPr txBox="1">
            <a:spLocks/>
          </p:cNvSpPr>
          <p:nvPr/>
        </p:nvSpPr>
        <p:spPr>
          <a:xfrm>
            <a:off x="838200" y="1592831"/>
            <a:ext cx="8599099" cy="2357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 marL="0" indent="0">
              <a:buNone/>
            </a:pP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 marL="0" indent="0">
              <a:buNone/>
            </a:pP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595BC65A-6D56-CC28-632B-B7AD6FEA6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343" y="365125"/>
            <a:ext cx="10784457" cy="1073891"/>
          </a:xfrm>
        </p:spPr>
        <p:txBody>
          <a:bodyPr>
            <a:normAutofit/>
          </a:bodyPr>
          <a:lstStyle/>
          <a:p>
            <a:r>
              <a:rPr kumimoji="1" lang="ko-KR" altLang="en-US" sz="3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중위 호출</a:t>
            </a:r>
            <a:endParaRPr kumimoji="1" lang="en-US" altLang="ko-KR" sz="36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4C0C3A-76D0-9732-E682-7C54A8568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180" y="4857749"/>
            <a:ext cx="6757511" cy="1405027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C81560D7-11B2-7D60-1718-00906DFC5C71}"/>
              </a:ext>
            </a:extLst>
          </p:cNvPr>
          <p:cNvSpPr txBox="1">
            <a:spLocks/>
          </p:cNvSpPr>
          <p:nvPr/>
        </p:nvSpPr>
        <p:spPr>
          <a:xfrm>
            <a:off x="838199" y="1815653"/>
            <a:ext cx="8599099" cy="21350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-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일반 메서드 호출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: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객체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함수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(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인자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)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형태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>
              <a:buFontTx/>
              <a:buChar char="-"/>
            </a:pP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중위 호출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: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객체 함수 인자로 쓸 수 있게 해주는 문법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>
              <a:buFontTx/>
              <a:buChar char="-"/>
            </a:pP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예시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: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map Pair 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만들 때 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to 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함수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1..10(</a:t>
            </a:r>
            <a:r>
              <a:rPr kumimoji="1" lang="en-US" altLang="ko-KR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rangeTo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) , 1 until 10</a:t>
            </a:r>
          </a:p>
          <a:p>
            <a:pPr>
              <a:buFontTx/>
              <a:buChar char="-"/>
            </a:pP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성립 조건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 lvl="1">
              <a:buFontTx/>
              <a:buChar char="-"/>
            </a:pPr>
            <a:r>
              <a:rPr kumimoji="1" lang="en-US" altLang="ko-KR" sz="1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infix </a:t>
            </a:r>
            <a:r>
              <a:rPr kumimoji="1" lang="ko-KR" altLang="en-US" sz="1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키워드로 명시 필요</a:t>
            </a:r>
            <a:endParaRPr kumimoji="1" lang="en-US" altLang="ko-KR" sz="16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 lvl="1">
              <a:buFontTx/>
              <a:buChar char="-"/>
            </a:pPr>
            <a:r>
              <a:rPr kumimoji="1" lang="ko-KR" altLang="en-US" sz="1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멤버 함수 </a:t>
            </a:r>
            <a:r>
              <a:rPr kumimoji="1" lang="en-US" altLang="ko-KR" sz="1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or </a:t>
            </a:r>
            <a:r>
              <a:rPr kumimoji="1" lang="ko-KR" altLang="en-US" sz="1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확장 함수</a:t>
            </a:r>
            <a:r>
              <a:rPr kumimoji="1" lang="en-US" altLang="ko-KR" sz="1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:</a:t>
            </a:r>
            <a:r>
              <a:rPr kumimoji="1" lang="ko-KR" altLang="en-US" sz="1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</a:t>
            </a:r>
            <a:r>
              <a:rPr kumimoji="1" lang="en-US" altLang="ko-KR" sz="1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this</a:t>
            </a:r>
            <a:r>
              <a:rPr kumimoji="1" lang="ko-KR" altLang="en-US" sz="1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가 있어야 하기 때문에</a:t>
            </a:r>
            <a:endParaRPr kumimoji="1" lang="en-US" altLang="ko-KR" sz="16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 lvl="1">
              <a:buFontTx/>
              <a:buChar char="-"/>
            </a:pPr>
            <a:r>
              <a:rPr kumimoji="1" lang="ko-KR" altLang="en-US" sz="1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파라미터가 정확히 </a:t>
            </a:r>
            <a:r>
              <a:rPr kumimoji="1" lang="en-US" altLang="ko-KR" sz="1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1</a:t>
            </a:r>
            <a:r>
              <a:rPr kumimoji="1" lang="ko-KR" altLang="en-US" sz="1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개여야 함</a:t>
            </a:r>
            <a:r>
              <a:rPr kumimoji="1" lang="en-US" altLang="ko-KR" sz="1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(</a:t>
            </a:r>
            <a:r>
              <a:rPr kumimoji="1" lang="ko-KR" altLang="en-US" sz="1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중위 호출은 객체 </a:t>
            </a:r>
            <a:r>
              <a:rPr kumimoji="1" lang="en-US" altLang="ko-KR" sz="1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A </a:t>
            </a:r>
            <a:r>
              <a:rPr kumimoji="1" lang="ko-KR" altLang="en-US" sz="1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함수 </a:t>
            </a:r>
            <a:r>
              <a:rPr kumimoji="1" lang="en-US" altLang="ko-KR" sz="1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B</a:t>
            </a:r>
            <a:r>
              <a:rPr kumimoji="1" lang="ko-KR" altLang="en-US" sz="1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라는 문법이기 때문에 인자를 여러 개 받을 수 없음</a:t>
            </a:r>
            <a:r>
              <a:rPr kumimoji="1" lang="en-US" altLang="ko-KR" sz="1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)</a:t>
            </a:r>
          </a:p>
          <a:p>
            <a:pPr lvl="1">
              <a:buFontTx/>
              <a:buChar char="-"/>
            </a:pPr>
            <a:endParaRPr kumimoji="1" lang="en-US" altLang="ko-KR" sz="16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 marL="0" indent="0">
              <a:buNone/>
            </a:pP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0098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5EA89-417B-C88C-EDC1-85AAD6026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863763A-BEF9-FA22-EB4B-D354EF5BA343}"/>
              </a:ext>
            </a:extLst>
          </p:cNvPr>
          <p:cNvSpPr txBox="1">
            <a:spLocks/>
          </p:cNvSpPr>
          <p:nvPr/>
        </p:nvSpPr>
        <p:spPr>
          <a:xfrm>
            <a:off x="838200" y="1592831"/>
            <a:ext cx="8599099" cy="2357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 marL="0" indent="0">
              <a:buNone/>
            </a:pP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 marL="0" indent="0">
              <a:buNone/>
            </a:pP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0DF67C72-1673-DC5C-F9EE-2E8CE9E13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343" y="365125"/>
            <a:ext cx="10784457" cy="1073891"/>
          </a:xfrm>
        </p:spPr>
        <p:txBody>
          <a:bodyPr>
            <a:normAutofit/>
          </a:bodyPr>
          <a:lstStyle/>
          <a:p>
            <a:r>
              <a:rPr kumimoji="1" lang="ko-KR" altLang="en-US" sz="36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디폴트 파라미터 값</a:t>
            </a:r>
            <a:endParaRPr kumimoji="1" lang="en-US" altLang="ko-KR" sz="36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CC7A2DB-48B0-0E6E-848F-BB920E7BF45C}"/>
              </a:ext>
            </a:extLst>
          </p:cNvPr>
          <p:cNvSpPr txBox="1">
            <a:spLocks/>
          </p:cNvSpPr>
          <p:nvPr/>
        </p:nvSpPr>
        <p:spPr>
          <a:xfrm>
            <a:off x="569343" y="2512907"/>
            <a:ext cx="8599099" cy="2659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파라미터 선언부에 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=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값을 붙이면 호출 시 생략 가능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>
              <a:buFontTx/>
              <a:buChar char="-"/>
            </a:pP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자바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: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오버로딩 필요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>
              <a:buFontTx/>
              <a:buChar char="-"/>
            </a:pPr>
            <a:r>
              <a:rPr kumimoji="1" lang="ko-KR" altLang="en-US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코틀린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: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함수 하나로 해결 가능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>
              <a:buFontTx/>
              <a:buChar char="-"/>
            </a:pP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위치 인자는 항상 앞에서부터 순서대로만 채울 수 있고</a:t>
            </a:r>
            <a:r>
              <a:rPr kumimoji="1" lang="en-US" altLang="ko-KR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,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중간 걸 건너뛰려면 그 </a:t>
            </a:r>
            <a:r>
              <a:rPr kumimoji="1" lang="ko-KR" altLang="en-US" sz="2000" dirty="0" err="1">
                <a:latin typeface="NeoDunggeunmo" panose="02010509060201040203" pitchFamily="49" charset="-127"/>
                <a:ea typeface="NeoDunggeunmo" panose="02010509060201040203" pitchFamily="49" charset="-127"/>
              </a:rPr>
              <a:t>뒤에부터는</a:t>
            </a: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 이름 지정 필요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pPr>
              <a:buFontTx/>
              <a:buChar char="-"/>
            </a:pPr>
            <a:r>
              <a:rPr kumimoji="1" lang="ko-KR" altLang="en-US" sz="2000" dirty="0">
                <a:latin typeface="NeoDunggeunmo" panose="02010509060201040203" pitchFamily="49" charset="-127"/>
                <a:ea typeface="NeoDunggeunmo" panose="02010509060201040203" pitchFamily="49" charset="-127"/>
              </a:rPr>
              <a:t>자바에서는 보조 생성자 필요</a:t>
            </a:r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  <a:p>
            <a:endParaRPr kumimoji="1" lang="en-US" altLang="ko-KR" sz="2000" dirty="0">
              <a:latin typeface="NeoDunggeunmo" panose="02010509060201040203" pitchFamily="49" charset="-127"/>
              <a:ea typeface="NeoDunggeunmo" panose="02010509060201040203" pitchFamily="49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621CD14-CF3A-9E1A-D9B5-9A83030AF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43" y="1439016"/>
            <a:ext cx="9195567" cy="74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411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934</TotalTime>
  <Words>744</Words>
  <Application>Microsoft Macintosh PowerPoint</Application>
  <PresentationFormat>와이드스크린</PresentationFormat>
  <Paragraphs>95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NeoDunggeunmo</vt:lpstr>
      <vt:lpstr>Arial</vt:lpstr>
      <vt:lpstr>Office 테마</vt:lpstr>
      <vt:lpstr>3장 함수 정의와 호출</vt:lpstr>
      <vt:lpstr>목차</vt:lpstr>
      <vt:lpstr>컬렉션,문자열,정규식,함수</vt:lpstr>
      <vt:lpstr>컬렉션,문자열,정규식,함수</vt:lpstr>
      <vt:lpstr>최상위 및 로컬 함수와 프로퍼티</vt:lpstr>
      <vt:lpstr>최상위 및 로컬 함수와 프로퍼티</vt:lpstr>
      <vt:lpstr>최상위 및 로컬 함수와 프로퍼티</vt:lpstr>
      <vt:lpstr>확장 함수, 확장 프로퍼티</vt:lpstr>
      <vt:lpstr>확장 함수, 확장 프로퍼티</vt:lpstr>
      <vt:lpstr>확장 함수, 확장 프로퍼티</vt:lpstr>
      <vt:lpstr>확장 함수, 확장 프로퍼티</vt:lpstr>
      <vt:lpstr>가변 길이 인자</vt:lpstr>
      <vt:lpstr>중위 호출</vt:lpstr>
      <vt:lpstr>디폴트 파라미터 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이지원</dc:creator>
  <cp:lastModifiedBy>이지원</cp:lastModifiedBy>
  <cp:revision>4</cp:revision>
  <dcterms:created xsi:type="dcterms:W3CDTF">2026-07-07T13:22:03Z</dcterms:created>
  <dcterms:modified xsi:type="dcterms:W3CDTF">2026-07-08T05:04:13Z</dcterms:modified>
</cp:coreProperties>
</file>